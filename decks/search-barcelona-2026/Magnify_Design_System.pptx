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Juliana presenta. Esperar a que termine. Header off para evitar overlay del evento; la info se incorpora tipográficamente.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Gancho. img1 = Instagram @eat.nudes. img2 = ChatGPT 'qué es Nudes'. No narres durante los primeros 5 segundos. Luego: 'Nudes. Restaurante saludable en Barcelona. Dos locales. 24.700 seguidores. Existe. Y está a 1,2 kilómetros de esta sala.' Pausa. 'Para ChatGPT, no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gancho. Frase ancla número uno. 2 segundos de silencio.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I. Fondo oscuro para distinguir los divisores de los manifiestos amarillos.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SERPs comparadas. La asimetría del vocabulario es el mensaje.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 parafraseada. Original EN: 'AI has lowered the barrier for content creation, forcing Google to raise the bar for what actually gets indexed'.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Doble evidencia. Sullivan desde fuera, Dincer desde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Damasio/Elliot. Bajar ritmo.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Volumen 40. KD 72. Una fila en un spreadsheet. Para esa persona, era una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al Acto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Manifiesto. Pausa.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Manifiesto. Pausa.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 ancla. Concepto propio. Va a LinkedIn post-evento (donde sí firma). En escenario va sin atribución (axioma anónimo).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Treemap FIT anonimizado. imagen_ajuste contain para que no se recorte lateralmente.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severidades del mismo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SERP de 'hoffman'. Google no sabe quién eres. ChatGPT te conoce perfectamente. Y entre ellos no se ponen de acuerdo.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II del bloque H&amp;W. Sin highlight. La potencia viene del cambio de fondo claro vs los actos oscuros del 1 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Blog 35.000 sesiones mes, tienda 4.500.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Momento metodológico del caso H&amp;W. Warehouse architecture explicada sin jerga SEO. Frase verbal de cierre: 'La web se organizaba como un almacén. El comprador piensa como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Momento del click. Las citas en serif sobre fondo hueso quedan como editoriales de revista.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Traducción visual del 'tomate' aplicada al caso. Frase verbal: 'No redecoramos la tienda. Cambiamos las preguntas que se podían hacer al entrar.'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Los tres en amarillo homogéneo.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Fricción narrativa antes del cierre. Crecer quitando. Si un cliente en Q&amp;A dice 'pero cayó el tráfico' — ya está respondido desde la narrativa.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acto 2. Cuando entiendes al usuario, hasta el negocio cambia.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Atribución Poddar en voz.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de credibilidad rota. Highlight tercer pilar.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Comparativa metodológica. Cómo cambiar el punto de partida.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Delfos. 2 segundos de silencio. Frase griega del título aterriza aquí. El campo griego va como sello/inscripción encima del titular. Cierra el círculo del hilo: lo que abrió en slide 1 reaparece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Tesis. Paralelismo sintáctico en 2 líneas.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 Posición derecha (img a la derecha, texto a la izquierda).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sala saca el móvil. 'No lo hagáis ahora.'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filosófico antes del cierre práctico. La sala lleva 18 minutos viendo 'Gnōthi seautón' sin traducción explícita en slide. Aquí se cierra el círculo abierto en slide 1. Verbalmente NO digas nada — 4 segundos de silencio, deja que la sala lea.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τέλος = fin/propósito en griego, cierra el círculo griego apertura→Conócete→τέλος. Nombre completo con apellido.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Reorganización completa. La slide queda durante todo el Q&amp;A — la gente saca foto.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1524000" y="2157413"/>
            <a:ext cx="1569720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i="1" spc="66" kern="0" dirty="0">
                <a:solidFill>
                  <a:srgbClr val="FFD600"/>
                </a:solidFill>
                <a:latin typeface="DM Serif Display" pitchFamily="34" charset="0"/>
                <a:ea typeface="DM Serif Display" pitchFamily="34" charset="-122"/>
                <a:cs typeface="DM Serif Display" pitchFamily="34" charset="-120"/>
              </a:rPr>
              <a:t>Γνῶθι σεαυτόν</a:t>
            </a:r>
            <a:endParaRPr lang="en-US" sz="3300" dirty="0"/>
          </a:p>
        </p:txBody>
      </p:sp>
      <p:sp>
        <p:nvSpPr>
          <p:cNvPr id="3" name="Text 1"/>
          <p:cNvSpPr/>
          <p:nvPr/>
        </p:nvSpPr>
        <p:spPr>
          <a:xfrm>
            <a:off x="1524000" y="2881313"/>
            <a:ext cx="15697200" cy="381000"/>
          </a:xfrm>
          <a:prstGeom prst="rect">
            <a:avLst/>
          </a:prstGeom>
          <a:noFill/>
          <a:ln/>
        </p:spPr>
        <p:txBody>
          <a:bodyPr wrap="square" lIns="25400" tIns="25400" rIns="25400" bIns="25400" rtlCol="0" anchor="t">
            <a:normAutofit/>
          </a:bodyPr>
          <a:lstStyle/>
          <a:p>
            <a:pPr algn="l" indent="0" marL="0">
              <a:buNone/>
            </a:pPr>
            <a:r>
              <a:rPr lang="en-US" sz="2250" spc="405" kern="0" dirty="0">
                <a:solidFill>
                  <a:srgbClr val="999999"/>
                </a:solidFill>
                <a:latin typeface="PP Neue Montreal" pitchFamily="34" charset="0"/>
                <a:ea typeface="PP Neue Montreal" pitchFamily="34" charset="-122"/>
                <a:cs typeface="PP Neue Montreal" pitchFamily="34" charset="-120"/>
              </a:rPr>
              <a:t>SEARCH BARCELONA · 2026</a:t>
            </a:r>
            <a:endParaRPr lang="en-US" sz="2250" dirty="0"/>
          </a:p>
        </p:txBody>
      </p:sp>
      <p:sp>
        <p:nvSpPr>
          <p:cNvPr id="4" name="Text 2"/>
          <p:cNvSpPr/>
          <p:nvPr/>
        </p:nvSpPr>
        <p:spPr>
          <a:xfrm>
            <a:off x="1524000" y="3490913"/>
            <a:ext cx="15697200" cy="3086100"/>
          </a:xfrm>
          <a:prstGeom prst="rect">
            <a:avLst/>
          </a:prstGeom>
          <a:noFill/>
          <a:ln/>
        </p:spPr>
        <p:txBody>
          <a:bodyPr wrap="square" lIns="25400" tIns="25400" rIns="25400" bIns="25400" rtlCol="0" anchor="t">
            <a:normAutofit/>
          </a:bodyPr>
          <a:lstStyle/>
          <a:p>
            <a:pPr algn="l" indent="0" marL="0">
              <a:lnSpc>
                <a:spcPct val="100000"/>
              </a:lnSpc>
              <a:buNone/>
            </a:pPr>
            <a:r>
              <a:rPr lang="en-US" sz="12000" i="1" spc="-360" kern="0" dirty="0">
                <a:solidFill>
                  <a:srgbClr val="F0F0F0"/>
                </a:solidFill>
                <a:latin typeface="DM Serif Display" pitchFamily="34" charset="0"/>
                <a:ea typeface="DM Serif Display" pitchFamily="34" charset="-122"/>
                <a:cs typeface="DM Serif Display" pitchFamily="34" charset="-120"/>
              </a:rPr>
              <a:t>Gnōthi seautón.</a:t>
            </a:r>
            <a:endParaRPr lang="en-US" sz="12000" dirty="0"/>
          </a:p>
        </p:txBody>
      </p:sp>
      <p:sp>
        <p:nvSpPr>
          <p:cNvPr id="5" name="Shape 3"/>
          <p:cNvSpPr/>
          <p:nvPr/>
        </p:nvSpPr>
        <p:spPr>
          <a:xfrm>
            <a:off x="1524000" y="6919913"/>
            <a:ext cx="1143000" cy="9525"/>
          </a:xfrm>
          <a:prstGeom prst="rect">
            <a:avLst/>
          </a:prstGeom>
          <a:solidFill>
            <a:srgbClr val="FFD600"/>
          </a:solidFill>
          <a:ln/>
        </p:spPr>
      </p:sp>
      <p:sp>
        <p:nvSpPr>
          <p:cNvPr id="6" name="Text 4"/>
          <p:cNvSpPr/>
          <p:nvPr/>
        </p:nvSpPr>
        <p:spPr>
          <a:xfrm>
            <a:off x="1524000" y="7272338"/>
            <a:ext cx="15697200"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FAFAFA"/>
                </a:solidFill>
                <a:latin typeface="PP Neue Montreal" pitchFamily="34" charset="0"/>
                <a:ea typeface="PP Neue Montreal" pitchFamily="34" charset="-122"/>
                <a:cs typeface="PP Neue Montreal" pitchFamily="34" charset="-120"/>
              </a:rPr>
              <a:t>David Carrasco · </a:t>
            </a:r>
            <a:pPr algn="l" indent="0" marL="0">
              <a:lnSpc>
                <a:spcPct val="150000"/>
              </a:lnSpc>
              <a:buNone/>
            </a:pPr>
            <a:r>
              <a:rPr lang="en-US" sz="2250" i="1" dirty="0">
                <a:solidFill>
                  <a:srgbClr val="FAFAFA"/>
                </a:solidFill>
                <a:latin typeface="PP Neue Montreal" pitchFamily="34" charset="0"/>
                <a:ea typeface="PP Neue Montreal" pitchFamily="34" charset="-122"/>
                <a:cs typeface="PP Neue Montreal" pitchFamily="34" charset="-120"/>
              </a:rPr>
              <a:t>Magnify</a:t>
            </a:r>
            <a:endParaRPr lang="en-US" sz="2250" dirty="0"/>
          </a:p>
        </p:txBody>
      </p:sp>
      <p:sp>
        <p:nvSpPr>
          <p:cNvPr id="7" name="Text 5"/>
          <p:cNvSpPr/>
          <p:nvPr/>
        </p:nvSpPr>
        <p:spPr>
          <a:xfrm>
            <a:off x="1524000" y="7700963"/>
            <a:ext cx="15697200"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999999"/>
                </a:solidFill>
                <a:latin typeface="PP Neue Montreal" pitchFamily="34" charset="0"/>
                <a:ea typeface="PP Neue Montreal" pitchFamily="34" charset="-122"/>
                <a:cs typeface="PP Neue Montreal" pitchFamily="34" charset="-120"/>
              </a:rPr>
              <a:t>5 de mayo de 2026 · @SearchLDN</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9144000" cy="10287000"/>
          </a:xfrm>
          <a:prstGeom prst="rect">
            <a:avLst/>
          </a:prstGeom>
          <a:solidFill>
            <a:srgbClr val="0A0A0A"/>
          </a:solidFill>
          <a:ln/>
        </p:spPr>
      </p:sp>
      <p:sp>
        <p:nvSpPr>
          <p:cNvPr id="3" name="Shape 1"/>
          <p:cNvSpPr/>
          <p:nvPr/>
        </p:nvSpPr>
        <p:spPr>
          <a:xfrm>
            <a:off x="0" y="0"/>
            <a:ext cx="9144000" cy="7048500"/>
          </a:xfrm>
          <a:prstGeom prst="rect">
            <a:avLst/>
          </a:prstGeom>
          <a:solidFill>
            <a:srgbClr val="FAFAFA"/>
          </a:solidFill>
          <a:ln/>
        </p:spPr>
      </p:sp>
      <p:sp>
        <p:nvSpPr>
          <p:cNvPr id="4" name="Shape 2"/>
          <p:cNvSpPr/>
          <p:nvPr/>
        </p:nvSpPr>
        <p:spPr>
          <a:xfrm>
            <a:off x="0" y="0"/>
            <a:ext cx="9144000" cy="7048500"/>
          </a:xfrm>
          <a:prstGeom prst="rect">
            <a:avLst/>
          </a:prstGeom>
          <a:solidFill>
            <a:srgbClr val="FAFAFA"/>
          </a:solidFill>
          <a:ln/>
        </p:spPr>
      </p:sp>
      <p:pic>
        <p:nvPicPr>
          <p:cNvPr id="5" name="Image 0" descr="preencoded.png">    </p:cNvPr>
          <p:cNvPicPr>
            <a:picLocks noChangeAspect="1"/>
          </p:cNvPicPr>
          <p:nvPr/>
        </p:nvPicPr>
        <p:blipFill>
          <a:blip r:embed="rId1"/>
          <a:srcRect l="0" r="0" t="0" b="0"/>
          <a:stretch/>
        </p:blipFill>
        <p:spPr>
          <a:xfrm>
            <a:off x="0" y="0"/>
            <a:ext cx="9144000" cy="7048500"/>
          </a:xfrm>
          <a:prstGeom prst="rect">
            <a:avLst/>
          </a:prstGeom>
        </p:spPr>
      </p:pic>
      <p:sp>
        <p:nvSpPr>
          <p:cNvPr id="6" name="Shape 3"/>
          <p:cNvSpPr/>
          <p:nvPr/>
        </p:nvSpPr>
        <p:spPr>
          <a:xfrm>
            <a:off x="0" y="7048500"/>
            <a:ext cx="9144000" cy="3238500"/>
          </a:xfrm>
          <a:prstGeom prst="rect">
            <a:avLst/>
          </a:prstGeom>
          <a:solidFill>
            <a:srgbClr val="0A0A0A"/>
          </a:solidFill>
          <a:ln/>
        </p:spPr>
      </p:sp>
      <p:sp>
        <p:nvSpPr>
          <p:cNvPr id="7" name="Text 4"/>
          <p:cNvSpPr/>
          <p:nvPr/>
        </p:nvSpPr>
        <p:spPr>
          <a:xfrm>
            <a:off x="762000" y="7756029"/>
            <a:ext cx="7848600" cy="361950"/>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FFD600"/>
                </a:solidFill>
                <a:latin typeface="PP Neue Montreal" pitchFamily="34" charset="0"/>
                <a:ea typeface="PP Neue Montreal" pitchFamily="34" charset="-122"/>
                <a:cs typeface="PP Neue Montreal" pitchFamily="34" charset="-120"/>
              </a:rPr>
              <a:t>LA MARCA</a:t>
            </a:r>
            <a:endParaRPr lang="en-US" sz="2100" dirty="0"/>
          </a:p>
        </p:txBody>
      </p:sp>
      <p:sp>
        <p:nvSpPr>
          <p:cNvPr id="8" name="Text 5"/>
          <p:cNvSpPr/>
          <p:nvPr/>
        </p:nvSpPr>
        <p:spPr>
          <a:xfrm>
            <a:off x="762000" y="8308479"/>
            <a:ext cx="7848600" cy="1232892"/>
          </a:xfrm>
          <a:prstGeom prst="rect">
            <a:avLst/>
          </a:prstGeom>
          <a:noFill/>
          <a:ln/>
        </p:spPr>
        <p:txBody>
          <a:bodyPr wrap="square" lIns="25400" tIns="25400" rIns="25400" bIns="25400" rtlCol="0" anchor="t">
            <a:normAutofit/>
          </a:bodyPr>
          <a:lstStyle/>
          <a:p>
            <a:pPr algn="l" indent="0" marL="0">
              <a:lnSpc>
                <a:spcPct val="112000"/>
              </a:lnSpc>
              <a:buNone/>
            </a:pPr>
            <a:r>
              <a:rPr lang="en-US" sz="4200" spc="-84" kern="0" dirty="0">
                <a:solidFill>
                  <a:srgbClr val="FAFAFA"/>
                </a:solidFill>
                <a:latin typeface="DM Serif Display" pitchFamily="34" charset="0"/>
                <a:ea typeface="DM Serif Display" pitchFamily="34" charset="-122"/>
                <a:cs typeface="DM Serif Display" pitchFamily="34" charset="-120"/>
              </a:rPr>
              <a:t>24.700 seguidores. Dos locales en </a:t>
            </a:r>
            <a:pPr algn="l" indent="0" marL="0">
              <a:lnSpc>
                <a:spcPct val="112000"/>
              </a:lnSpc>
              <a:buNone/>
            </a:pPr>
            <a:r>
              <a:rPr lang="en-US" sz="4200" i="1" spc="-84" kern="0" dirty="0">
                <a:solidFill>
                  <a:srgbClr val="FAFAFA"/>
                </a:solidFill>
                <a:latin typeface="DM Serif Display" pitchFamily="34" charset="0"/>
                <a:ea typeface="DM Serif Display" pitchFamily="34" charset="-122"/>
                <a:cs typeface="DM Serif Display" pitchFamily="34" charset="-120"/>
              </a:rPr>
              <a:t>Barcelona </a:t>
            </a:r>
            <a:pPr algn="l" indent="0" marL="0">
              <a:lnSpc>
                <a:spcPct val="112000"/>
              </a:lnSpc>
              <a:buNone/>
            </a:pPr>
            <a:r>
              <a:rPr lang="en-US" sz="4200" spc="-84" kern="0" dirty="0">
                <a:solidFill>
                  <a:srgbClr val="FAFAFA"/>
                </a:solidFill>
                <a:latin typeface="DM Serif Display" pitchFamily="34" charset="0"/>
                <a:ea typeface="DM Serif Display" pitchFamily="34" charset="-122"/>
                <a:cs typeface="DM Serif Display" pitchFamily="34" charset="-120"/>
              </a:rPr>
              <a:t>y Madrid.</a:t>
            </a:r>
            <a:endParaRPr lang="en-US" sz="4200" dirty="0"/>
          </a:p>
        </p:txBody>
      </p:sp>
      <p:sp>
        <p:nvSpPr>
          <p:cNvPr id="9" name="Shape 6"/>
          <p:cNvSpPr/>
          <p:nvPr/>
        </p:nvSpPr>
        <p:spPr>
          <a:xfrm>
            <a:off x="9144000" y="0"/>
            <a:ext cx="9144000" cy="10287000"/>
          </a:xfrm>
          <a:prstGeom prst="rect">
            <a:avLst/>
          </a:prstGeom>
          <a:solidFill>
            <a:srgbClr val="0A0A0A"/>
          </a:solidFill>
          <a:ln/>
        </p:spPr>
      </p:sp>
      <p:sp>
        <p:nvSpPr>
          <p:cNvPr id="10" name="Shape 7"/>
          <p:cNvSpPr/>
          <p:nvPr/>
        </p:nvSpPr>
        <p:spPr>
          <a:xfrm>
            <a:off x="9144000" y="0"/>
            <a:ext cx="9144000" cy="7048500"/>
          </a:xfrm>
          <a:prstGeom prst="rect">
            <a:avLst/>
          </a:prstGeom>
          <a:solidFill>
            <a:srgbClr val="FAFAFA"/>
          </a:solidFill>
          <a:ln/>
        </p:spPr>
      </p:sp>
      <p:sp>
        <p:nvSpPr>
          <p:cNvPr id="11" name="Shape 8"/>
          <p:cNvSpPr/>
          <p:nvPr/>
        </p:nvSpPr>
        <p:spPr>
          <a:xfrm>
            <a:off x="9144000" y="0"/>
            <a:ext cx="9144000" cy="7048500"/>
          </a:xfrm>
          <a:prstGeom prst="rect">
            <a:avLst/>
          </a:prstGeom>
          <a:solidFill>
            <a:srgbClr val="FAFAFA"/>
          </a:solidFill>
          <a:ln/>
        </p:spPr>
      </p:sp>
      <p:pic>
        <p:nvPicPr>
          <p:cNvPr id="12" name="Image 1" descr="preencoded.png">    </p:cNvPr>
          <p:cNvPicPr>
            <a:picLocks noChangeAspect="1"/>
          </p:cNvPicPr>
          <p:nvPr/>
        </p:nvPicPr>
        <p:blipFill>
          <a:blip r:embed="rId2"/>
          <a:srcRect l="0" r="0" t="0" b="0"/>
          <a:stretch/>
        </p:blipFill>
        <p:spPr>
          <a:xfrm>
            <a:off x="9144000" y="0"/>
            <a:ext cx="9144000" cy="7048500"/>
          </a:xfrm>
          <a:prstGeom prst="rect">
            <a:avLst/>
          </a:prstGeom>
        </p:spPr>
      </p:pic>
      <p:sp>
        <p:nvSpPr>
          <p:cNvPr id="13" name="Shape 9"/>
          <p:cNvSpPr/>
          <p:nvPr/>
        </p:nvSpPr>
        <p:spPr>
          <a:xfrm>
            <a:off x="9144000" y="7048500"/>
            <a:ext cx="9144000" cy="3238500"/>
          </a:xfrm>
          <a:prstGeom prst="rect">
            <a:avLst/>
          </a:prstGeom>
          <a:solidFill>
            <a:srgbClr val="0A0A0A"/>
          </a:solidFill>
          <a:ln/>
        </p:spPr>
      </p:sp>
      <p:sp>
        <p:nvSpPr>
          <p:cNvPr id="14" name="Text 10"/>
          <p:cNvSpPr/>
          <p:nvPr/>
        </p:nvSpPr>
        <p:spPr>
          <a:xfrm>
            <a:off x="9906000" y="8054727"/>
            <a:ext cx="7848600" cy="361950"/>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FFD600"/>
                </a:solidFill>
                <a:latin typeface="PP Neue Montreal" pitchFamily="34" charset="0"/>
                <a:ea typeface="PP Neue Montreal" pitchFamily="34" charset="-122"/>
                <a:cs typeface="PP Neue Montreal" pitchFamily="34" charset="-120"/>
              </a:rPr>
              <a:t>CHATGPT</a:t>
            </a:r>
            <a:endParaRPr lang="en-US" sz="2100" dirty="0"/>
          </a:p>
        </p:txBody>
      </p:sp>
      <p:sp>
        <p:nvSpPr>
          <p:cNvPr id="15" name="Text 11"/>
          <p:cNvSpPr/>
          <p:nvPr/>
        </p:nvSpPr>
        <p:spPr>
          <a:xfrm>
            <a:off x="9906000" y="8607177"/>
            <a:ext cx="7848600" cy="635496"/>
          </a:xfrm>
          <a:prstGeom prst="rect">
            <a:avLst/>
          </a:prstGeom>
          <a:noFill/>
          <a:ln/>
        </p:spPr>
        <p:txBody>
          <a:bodyPr wrap="square" lIns="25400" tIns="25400" rIns="25400" bIns="25400" rtlCol="0" anchor="t">
            <a:normAutofit/>
          </a:bodyPr>
          <a:lstStyle/>
          <a:p>
            <a:pPr algn="l" indent="0" marL="0">
              <a:lnSpc>
                <a:spcPct val="112000"/>
              </a:lnSpc>
              <a:buNone/>
            </a:pPr>
            <a:r>
              <a:rPr lang="en-US" sz="4200" spc="-84" kern="0" dirty="0">
                <a:solidFill>
                  <a:srgbClr val="FAFAFA"/>
                </a:solidFill>
                <a:latin typeface="DM Serif Display" pitchFamily="34" charset="0"/>
                <a:ea typeface="DM Serif Display" pitchFamily="34" charset="-122"/>
                <a:cs typeface="DM Serif Display" pitchFamily="34" charset="-120"/>
              </a:rPr>
              <a:t>Envía fotos </a:t>
            </a:r>
            <a:pPr algn="l" indent="0" marL="0">
              <a:lnSpc>
                <a:spcPct val="112000"/>
              </a:lnSpc>
              <a:buNone/>
            </a:pPr>
            <a:r>
              <a:rPr lang="en-US" sz="4200" i="1" spc="-84" kern="0" dirty="0">
                <a:solidFill>
                  <a:srgbClr val="FAFAFA"/>
                </a:solidFill>
                <a:latin typeface="DM Serif Display" pitchFamily="34" charset="0"/>
                <a:ea typeface="DM Serif Display" pitchFamily="34" charset="-122"/>
                <a:cs typeface="DM Serif Display" pitchFamily="34" charset="-120"/>
              </a:rPr>
              <a:t>desnudo/a</a:t>
            </a:r>
            <a:pPr algn="l" indent="0" marL="0">
              <a:lnSpc>
                <a:spcPct val="112000"/>
              </a:lnSpc>
              <a:buNone/>
            </a:pPr>
            <a:r>
              <a:rPr lang="en-US" sz="4200" spc="-84" kern="0" dirty="0">
                <a:solidFill>
                  <a:srgbClr val="FAFAFA"/>
                </a:solidFill>
                <a:latin typeface="DM Serif Display" pitchFamily="34" charset="0"/>
                <a:ea typeface="DM Serif Display" pitchFamily="34" charset="-122"/>
                <a:cs typeface="DM Serif Display" pitchFamily="34" charset="-120"/>
              </a:rPr>
              <a:t>.</a:t>
            </a:r>
            <a:endParaRPr lang="en-US" sz="4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D600"/>
        </a:solidFill>
      </p:bgPr>
    </p:bg>
    <p:spTree>
      <p:nvGrpSpPr>
        <p:cNvPr id="1" name=""/>
        <p:cNvGrpSpPr/>
        <p:nvPr/>
      </p:nvGrpSpPr>
      <p:grpSpPr>
        <a:xfrm>
          <a:off x="0" y="0"/>
          <a:ext cx="0" cy="0"/>
          <a:chOff x="0" y="0"/>
          <a:chExt cx="0" cy="0"/>
        </a:xfrm>
      </p:grpSpPr>
      <p:sp>
        <p:nvSpPr>
          <p:cNvPr id="2" name="Text 0"/>
          <p:cNvSpPr/>
          <p:nvPr/>
        </p:nvSpPr>
        <p:spPr>
          <a:xfrm>
            <a:off x="1524000" y="4053185"/>
            <a:ext cx="5784357" cy="2218730"/>
          </a:xfrm>
          <a:prstGeom prst="rect">
            <a:avLst/>
          </a:prstGeom>
          <a:noFill/>
          <a:ln/>
        </p:spPr>
        <p:txBody>
          <a:bodyPr wrap="square" lIns="25400" tIns="25400" rIns="25400" bIns="25400" rtlCol="0" anchor="t">
            <a:normAutofit/>
          </a:bodyPr>
          <a:lstStyle/>
          <a:p>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El espejo se volvió </a:t>
            </a:r>
            <a:pPr algn="l" indent="0" marL="0">
              <a:lnSpc>
                <a:spcPct val="106000"/>
              </a:lnSpc>
              <a:buNone/>
            </a:pPr>
            <a:r>
              <a:rPr lang="en-US" sz="8100" i="1" spc="-162" kern="0" dirty="0">
                <a:solidFill>
                  <a:srgbClr val="0A0A0A"/>
                </a:solidFill>
                <a:latin typeface="DM Serif Display" pitchFamily="34" charset="0"/>
                <a:ea typeface="DM Serif Display" pitchFamily="34" charset="-122"/>
                <a:cs typeface="DM Serif Display" pitchFamily="34" charset="-120"/>
              </a:rPr>
              <a:t>HD</a:t>
            </a:r>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a:t>
            </a:r>
            <a:endParaRPr lang="en-US" sz="8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1524000" y="4598343"/>
            <a:ext cx="6401054" cy="1128415"/>
          </a:xfrm>
          <a:prstGeom prst="rect">
            <a:avLst/>
          </a:prstGeom>
          <a:noFill/>
          <a:ln/>
        </p:spPr>
        <p:txBody>
          <a:bodyPr wrap="square" lIns="25400" tIns="25400" rIns="25400" bIns="25400" rtlCol="0" anchor="t">
            <a:normAutofit/>
          </a:bodyPr>
          <a:lstStyle/>
          <a:p>
            <a:pPr algn="l" indent="0" marL="0">
              <a:lnSpc>
                <a:spcPct val="106000"/>
              </a:lnSpc>
              <a:buNone/>
            </a:pPr>
            <a:r>
              <a:rPr lang="en-US" sz="8100" spc="-162" kern="0" dirty="0">
                <a:solidFill>
                  <a:srgbClr val="FAFAFA"/>
                </a:solidFill>
                <a:latin typeface="DM Serif Display" pitchFamily="34" charset="0"/>
                <a:ea typeface="DM Serif Display" pitchFamily="34" charset="-122"/>
                <a:cs typeface="DM Serif Display" pitchFamily="34" charset="-120"/>
              </a:rPr>
              <a:t>El </a:t>
            </a:r>
            <a:pPr algn="l" indent="0" marL="0">
              <a:lnSpc>
                <a:spcPct val="106000"/>
              </a:lnSpc>
              <a:buNone/>
            </a:pPr>
            <a:r>
              <a:rPr lang="en-US" sz="8100" i="1" spc="-162" kern="0" dirty="0">
                <a:solidFill>
                  <a:srgbClr val="FAFAFA"/>
                </a:solidFill>
                <a:latin typeface="DM Serif Display" pitchFamily="34" charset="0"/>
                <a:ea typeface="DM Serif Display" pitchFamily="34" charset="-122"/>
                <a:cs typeface="DM Serif Display" pitchFamily="34" charset="-120"/>
              </a:rPr>
              <a:t>diagnóstico</a:t>
            </a:r>
            <a:pPr algn="l" indent="0" marL="0">
              <a:lnSpc>
                <a:spcPct val="106000"/>
              </a:lnSpc>
              <a:buNone/>
            </a:pPr>
            <a:r>
              <a:rPr lang="en-US" sz="8100" spc="-162" kern="0" dirty="0">
                <a:solidFill>
                  <a:srgbClr val="FAFAFA"/>
                </a:solidFill>
                <a:latin typeface="DM Serif Display" pitchFamily="34" charset="0"/>
                <a:ea typeface="DM Serif Display" pitchFamily="34" charset="-122"/>
                <a:cs typeface="DM Serif Display" pitchFamily="34" charset="-120"/>
              </a:rPr>
              <a:t>.</a:t>
            </a:r>
            <a:endParaRPr lang="en-US" sz="8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9144000" cy="10287000"/>
          </a:xfrm>
          <a:prstGeom prst="rect">
            <a:avLst/>
          </a:prstGeom>
          <a:solidFill>
            <a:srgbClr val="0A0A0A"/>
          </a:solidFill>
          <a:ln/>
        </p:spPr>
      </p:sp>
      <p:sp>
        <p:nvSpPr>
          <p:cNvPr id="3" name="Shape 1"/>
          <p:cNvSpPr/>
          <p:nvPr/>
        </p:nvSpPr>
        <p:spPr>
          <a:xfrm>
            <a:off x="0" y="0"/>
            <a:ext cx="9144000" cy="7048500"/>
          </a:xfrm>
          <a:prstGeom prst="rect">
            <a:avLst/>
          </a:prstGeom>
          <a:solidFill>
            <a:srgbClr val="FAFAFA"/>
          </a:solidFill>
          <a:ln/>
        </p:spPr>
      </p:sp>
      <p:sp>
        <p:nvSpPr>
          <p:cNvPr id="4" name="Shape 2"/>
          <p:cNvSpPr/>
          <p:nvPr/>
        </p:nvSpPr>
        <p:spPr>
          <a:xfrm>
            <a:off x="0" y="0"/>
            <a:ext cx="9144000" cy="7048500"/>
          </a:xfrm>
          <a:prstGeom prst="rect">
            <a:avLst/>
          </a:prstGeom>
          <a:solidFill>
            <a:srgbClr val="FAFAFA"/>
          </a:solidFill>
          <a:ln/>
        </p:spPr>
      </p:sp>
      <p:pic>
        <p:nvPicPr>
          <p:cNvPr id="5" name="Image 0" descr="preencoded.png">    </p:cNvPr>
          <p:cNvPicPr>
            <a:picLocks noChangeAspect="1"/>
          </p:cNvPicPr>
          <p:nvPr/>
        </p:nvPicPr>
        <p:blipFill>
          <a:blip r:embed="rId1"/>
          <a:srcRect l="0" r="0" t="0" b="0"/>
          <a:stretch/>
        </p:blipFill>
        <p:spPr>
          <a:xfrm>
            <a:off x="0" y="0"/>
            <a:ext cx="9144000" cy="7048500"/>
          </a:xfrm>
          <a:prstGeom prst="rect">
            <a:avLst/>
          </a:prstGeom>
        </p:spPr>
      </p:pic>
      <p:sp>
        <p:nvSpPr>
          <p:cNvPr id="6" name="Shape 3"/>
          <p:cNvSpPr/>
          <p:nvPr/>
        </p:nvSpPr>
        <p:spPr>
          <a:xfrm>
            <a:off x="0" y="7048500"/>
            <a:ext cx="9144000" cy="3238500"/>
          </a:xfrm>
          <a:prstGeom prst="rect">
            <a:avLst/>
          </a:prstGeom>
          <a:solidFill>
            <a:srgbClr val="0A0A0A"/>
          </a:solidFill>
          <a:ln/>
        </p:spPr>
      </p:sp>
      <p:sp>
        <p:nvSpPr>
          <p:cNvPr id="7" name="Text 4"/>
          <p:cNvSpPr/>
          <p:nvPr/>
        </p:nvSpPr>
        <p:spPr>
          <a:xfrm>
            <a:off x="762000" y="8054727"/>
            <a:ext cx="7848600" cy="361950"/>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FFD600"/>
                </a:solidFill>
                <a:latin typeface="PP Neue Montreal" pitchFamily="34" charset="0"/>
                <a:ea typeface="PP Neue Montreal" pitchFamily="34" charset="-122"/>
                <a:cs typeface="PP Neue Montreal" pitchFamily="34" charset="-120"/>
              </a:rPr>
              <a:t>QUÉ ES EL SEO</a:t>
            </a:r>
            <a:endParaRPr lang="en-US" sz="2100" dirty="0"/>
          </a:p>
        </p:txBody>
      </p:sp>
      <p:sp>
        <p:nvSpPr>
          <p:cNvPr id="8" name="Text 5"/>
          <p:cNvSpPr/>
          <p:nvPr/>
        </p:nvSpPr>
        <p:spPr>
          <a:xfrm>
            <a:off x="762000" y="8607177"/>
            <a:ext cx="7848600" cy="635496"/>
          </a:xfrm>
          <a:prstGeom prst="rect">
            <a:avLst/>
          </a:prstGeom>
          <a:noFill/>
          <a:ln/>
        </p:spPr>
        <p:txBody>
          <a:bodyPr wrap="square" lIns="25400" tIns="25400" rIns="25400" bIns="25400" rtlCol="0" anchor="t">
            <a:normAutofit/>
          </a:bodyPr>
          <a:lstStyle/>
          <a:p>
            <a:pPr algn="l" indent="0" marL="0">
              <a:lnSpc>
                <a:spcPct val="112000"/>
              </a:lnSpc>
              <a:buNone/>
            </a:pPr>
            <a:r>
              <a:rPr lang="en-US" sz="4200" spc="-84" kern="0" dirty="0">
                <a:solidFill>
                  <a:srgbClr val="FAFAFA"/>
                </a:solidFill>
                <a:latin typeface="DM Serif Display" pitchFamily="34" charset="0"/>
                <a:ea typeface="DM Serif Display" pitchFamily="34" charset="-122"/>
                <a:cs typeface="DM Serif Display" pitchFamily="34" charset="-120"/>
              </a:rPr>
              <a:t>La industria se mira a sí </a:t>
            </a:r>
            <a:pPr algn="l" indent="0" marL="0">
              <a:lnSpc>
                <a:spcPct val="112000"/>
              </a:lnSpc>
              <a:buNone/>
            </a:pPr>
            <a:r>
              <a:rPr lang="en-US" sz="4200" i="1" spc="-84" kern="0" dirty="0">
                <a:solidFill>
                  <a:srgbClr val="FAFAFA"/>
                </a:solidFill>
                <a:latin typeface="DM Serif Display" pitchFamily="34" charset="0"/>
                <a:ea typeface="DM Serif Display" pitchFamily="34" charset="-122"/>
                <a:cs typeface="DM Serif Display" pitchFamily="34" charset="-120"/>
              </a:rPr>
              <a:t>misma</a:t>
            </a:r>
            <a:pPr algn="l" indent="0" marL="0">
              <a:lnSpc>
                <a:spcPct val="112000"/>
              </a:lnSpc>
              <a:buNone/>
            </a:pPr>
            <a:r>
              <a:rPr lang="en-US" sz="4200" spc="-84" kern="0" dirty="0">
                <a:solidFill>
                  <a:srgbClr val="FAFAFA"/>
                </a:solidFill>
                <a:latin typeface="DM Serif Display" pitchFamily="34" charset="0"/>
                <a:ea typeface="DM Serif Display" pitchFamily="34" charset="-122"/>
                <a:cs typeface="DM Serif Display" pitchFamily="34" charset="-120"/>
              </a:rPr>
              <a:t>.</a:t>
            </a:r>
            <a:endParaRPr lang="en-US" sz="4200" dirty="0"/>
          </a:p>
        </p:txBody>
      </p:sp>
      <p:sp>
        <p:nvSpPr>
          <p:cNvPr id="9" name="Shape 6"/>
          <p:cNvSpPr/>
          <p:nvPr/>
        </p:nvSpPr>
        <p:spPr>
          <a:xfrm>
            <a:off x="9144000" y="0"/>
            <a:ext cx="9144000" cy="10287000"/>
          </a:xfrm>
          <a:prstGeom prst="rect">
            <a:avLst/>
          </a:prstGeom>
          <a:solidFill>
            <a:srgbClr val="0A0A0A"/>
          </a:solidFill>
          <a:ln/>
        </p:spPr>
      </p:sp>
      <p:sp>
        <p:nvSpPr>
          <p:cNvPr id="10" name="Shape 7"/>
          <p:cNvSpPr/>
          <p:nvPr/>
        </p:nvSpPr>
        <p:spPr>
          <a:xfrm>
            <a:off x="9144000" y="0"/>
            <a:ext cx="9144000" cy="7048500"/>
          </a:xfrm>
          <a:prstGeom prst="rect">
            <a:avLst/>
          </a:prstGeom>
          <a:solidFill>
            <a:srgbClr val="FAFAFA"/>
          </a:solidFill>
          <a:ln/>
        </p:spPr>
      </p:sp>
      <p:sp>
        <p:nvSpPr>
          <p:cNvPr id="11" name="Shape 8"/>
          <p:cNvSpPr/>
          <p:nvPr/>
        </p:nvSpPr>
        <p:spPr>
          <a:xfrm>
            <a:off x="9144000" y="0"/>
            <a:ext cx="9144000" cy="7048500"/>
          </a:xfrm>
          <a:prstGeom prst="rect">
            <a:avLst/>
          </a:prstGeom>
          <a:solidFill>
            <a:srgbClr val="FAFAFA"/>
          </a:solidFill>
          <a:ln/>
        </p:spPr>
      </p:sp>
      <p:pic>
        <p:nvPicPr>
          <p:cNvPr id="12" name="Image 1" descr="preencoded.png">    </p:cNvPr>
          <p:cNvPicPr>
            <a:picLocks noChangeAspect="1"/>
          </p:cNvPicPr>
          <p:nvPr/>
        </p:nvPicPr>
        <p:blipFill>
          <a:blip r:embed="rId2"/>
          <a:srcRect l="0" r="0" t="0" b="0"/>
          <a:stretch/>
        </p:blipFill>
        <p:spPr>
          <a:xfrm>
            <a:off x="9144000" y="0"/>
            <a:ext cx="9144000" cy="7048500"/>
          </a:xfrm>
          <a:prstGeom prst="rect">
            <a:avLst/>
          </a:prstGeom>
        </p:spPr>
      </p:pic>
      <p:sp>
        <p:nvSpPr>
          <p:cNvPr id="13" name="Shape 9"/>
          <p:cNvSpPr/>
          <p:nvPr/>
        </p:nvSpPr>
        <p:spPr>
          <a:xfrm>
            <a:off x="9144000" y="7048500"/>
            <a:ext cx="9144000" cy="3238500"/>
          </a:xfrm>
          <a:prstGeom prst="rect">
            <a:avLst/>
          </a:prstGeom>
          <a:solidFill>
            <a:srgbClr val="0A0A0A"/>
          </a:solidFill>
          <a:ln/>
        </p:spPr>
      </p:sp>
      <p:sp>
        <p:nvSpPr>
          <p:cNvPr id="14" name="Text 10"/>
          <p:cNvSpPr/>
          <p:nvPr/>
        </p:nvSpPr>
        <p:spPr>
          <a:xfrm>
            <a:off x="9906000" y="8054727"/>
            <a:ext cx="7848600" cy="361950"/>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FFD600"/>
                </a:solidFill>
                <a:latin typeface="PP Neue Montreal" pitchFamily="34" charset="0"/>
                <a:ea typeface="PP Neue Montreal" pitchFamily="34" charset="-122"/>
                <a:cs typeface="PP Neue Montreal" pitchFamily="34" charset="-120"/>
              </a:rPr>
              <a:t>QUÉ ES EL MARKETING</a:t>
            </a:r>
            <a:endParaRPr lang="en-US" sz="2100" dirty="0"/>
          </a:p>
        </p:txBody>
      </p:sp>
      <p:sp>
        <p:nvSpPr>
          <p:cNvPr id="15" name="Text 11"/>
          <p:cNvSpPr/>
          <p:nvPr/>
        </p:nvSpPr>
        <p:spPr>
          <a:xfrm>
            <a:off x="9906000" y="8607177"/>
            <a:ext cx="7848600" cy="635496"/>
          </a:xfrm>
          <a:prstGeom prst="rect">
            <a:avLst/>
          </a:prstGeom>
          <a:noFill/>
          <a:ln/>
        </p:spPr>
        <p:txBody>
          <a:bodyPr wrap="square" lIns="25400" tIns="25400" rIns="25400" bIns="25400" rtlCol="0" anchor="t">
            <a:normAutofit/>
          </a:bodyPr>
          <a:lstStyle/>
          <a:p>
            <a:pPr algn="l" indent="0" marL="0">
              <a:lnSpc>
                <a:spcPct val="112000"/>
              </a:lnSpc>
              <a:buNone/>
            </a:pPr>
            <a:r>
              <a:rPr lang="en-US" sz="4200" spc="-84" kern="0" dirty="0">
                <a:solidFill>
                  <a:srgbClr val="FAFAFA"/>
                </a:solidFill>
                <a:latin typeface="DM Serif Display" pitchFamily="34" charset="0"/>
                <a:ea typeface="DM Serif Display" pitchFamily="34" charset="-122"/>
                <a:cs typeface="DM Serif Display" pitchFamily="34" charset="-120"/>
              </a:rPr>
              <a:t>Un idioma </a:t>
            </a:r>
            <a:pPr algn="l" indent="0" marL="0">
              <a:lnSpc>
                <a:spcPct val="112000"/>
              </a:lnSpc>
              <a:buNone/>
            </a:pPr>
            <a:r>
              <a:rPr lang="en-US" sz="4200" i="1" spc="-84" kern="0" dirty="0">
                <a:solidFill>
                  <a:srgbClr val="FAFAFA"/>
                </a:solidFill>
                <a:latin typeface="DM Serif Display" pitchFamily="34" charset="0"/>
                <a:ea typeface="DM Serif Display" pitchFamily="34" charset="-122"/>
                <a:cs typeface="DM Serif Display" pitchFamily="34" charset="-120"/>
              </a:rPr>
              <a:t>distinto</a:t>
            </a:r>
            <a:pPr algn="l" indent="0" marL="0">
              <a:lnSpc>
                <a:spcPct val="112000"/>
              </a:lnSpc>
              <a:buNone/>
            </a:pPr>
            <a:r>
              <a:rPr lang="en-US" sz="4200" spc="-84" kern="0" dirty="0">
                <a:solidFill>
                  <a:srgbClr val="FAFAFA"/>
                </a:solidFill>
                <a:latin typeface="DM Serif Display" pitchFamily="34" charset="0"/>
                <a:ea typeface="DM Serif Display" pitchFamily="34" charset="-122"/>
                <a:cs typeface="DM Serif Display" pitchFamily="34" charset="-120"/>
              </a:rPr>
              <a:t>.</a:t>
            </a:r>
            <a:endParaRPr lang="en-US" sz="4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1524000" y="2377529"/>
            <a:ext cx="15697200" cy="1104900"/>
          </a:xfrm>
          <a:prstGeom prst="rect">
            <a:avLst/>
          </a:prstGeom>
          <a:noFill/>
          <a:ln/>
        </p:spPr>
        <p:txBody>
          <a:bodyPr wrap="square" lIns="25400" tIns="25400" rIns="25400" bIns="25400" rtlCol="0" anchor="t">
            <a:normAutofit/>
          </a:bodyPr>
          <a:lstStyle/>
          <a:p>
            <a:pPr algn="l" indent="0" marL="0">
              <a:lnSpc>
                <a:spcPct val="50000"/>
              </a:lnSpc>
              <a:buNone/>
            </a:pPr>
            <a:r>
              <a:rPr lang="en-US" sz="21000" dirty="0">
                <a:solidFill>
                  <a:srgbClr val="FFD600"/>
                </a:solidFill>
                <a:latin typeface="DM Serif Display" pitchFamily="34" charset="0"/>
                <a:ea typeface="DM Serif Display" pitchFamily="34" charset="-122"/>
                <a:cs typeface="DM Serif Display" pitchFamily="34" charset="-120"/>
              </a:rPr>
              <a:t>"</a:t>
            </a:r>
            <a:endParaRPr lang="en-US" sz="21000" dirty="0"/>
          </a:p>
        </p:txBody>
      </p:sp>
      <p:sp>
        <p:nvSpPr>
          <p:cNvPr id="3" name="Text 1"/>
          <p:cNvSpPr/>
          <p:nvPr/>
        </p:nvSpPr>
        <p:spPr>
          <a:xfrm>
            <a:off x="1524000" y="3672929"/>
            <a:ext cx="15697200" cy="3055441"/>
          </a:xfrm>
          <a:prstGeom prst="rect">
            <a:avLst/>
          </a:prstGeom>
          <a:noFill/>
          <a:ln/>
        </p:spPr>
        <p:txBody>
          <a:bodyPr wrap="square" lIns="25400" tIns="25400" rIns="25400" bIns="25400" rtlCol="0" anchor="t">
            <a:normAutofit/>
          </a:bodyPr>
          <a:lstStyle/>
          <a:p>
            <a:pPr algn="l" indent="0" marL="0">
              <a:lnSpc>
                <a:spcPct val="110000"/>
              </a:lnSpc>
              <a:buNone/>
            </a:pPr>
            <a:r>
              <a:rPr lang="en-US" sz="7200" spc="-144" kern="0" dirty="0">
                <a:solidFill>
                  <a:srgbClr val="FAFAFA"/>
                </a:solidFill>
                <a:latin typeface="DM Serif Display" pitchFamily="34" charset="0"/>
                <a:ea typeface="DM Serif Display" pitchFamily="34" charset="-122"/>
                <a:cs typeface="DM Serif Display" pitchFamily="34" charset="-120"/>
              </a:rPr>
              <a:t>La IA ha bajado el listón para crear contenido. Google ha subido el listón para </a:t>
            </a:r>
            <a:pPr algn="l" indent="0" marL="0">
              <a:lnSpc>
                <a:spcPct val="110000"/>
              </a:lnSpc>
              <a:buNone/>
            </a:pPr>
            <a:r>
              <a:rPr lang="en-US" sz="7200" i="1" spc="-144" kern="0" dirty="0">
                <a:solidFill>
                  <a:srgbClr val="FAFAFA"/>
                </a:solidFill>
                <a:latin typeface="DM Serif Display" pitchFamily="34" charset="0"/>
                <a:ea typeface="DM Serif Display" pitchFamily="34" charset="-122"/>
                <a:cs typeface="DM Serif Display" pitchFamily="34" charset="-120"/>
              </a:rPr>
              <a:t>indexarlo</a:t>
            </a:r>
            <a:pPr algn="l" indent="0" marL="0">
              <a:lnSpc>
                <a:spcPct val="110000"/>
              </a:lnSpc>
              <a:buNone/>
            </a:pPr>
            <a:r>
              <a:rPr lang="en-US" sz="7200" spc="-144" kern="0" dirty="0">
                <a:solidFill>
                  <a:srgbClr val="FAFAFA"/>
                </a:solidFill>
                <a:latin typeface="DM Serif Display" pitchFamily="34" charset="0"/>
                <a:ea typeface="DM Serif Display" pitchFamily="34" charset="-122"/>
                <a:cs typeface="DM Serif Display" pitchFamily="34" charset="-120"/>
              </a:rPr>
              <a:t>.</a:t>
            </a:r>
            <a:endParaRPr lang="en-US" sz="7200" dirty="0"/>
          </a:p>
        </p:txBody>
      </p:sp>
      <p:sp>
        <p:nvSpPr>
          <p:cNvPr id="4" name="Text 2"/>
          <p:cNvSpPr/>
          <p:nvPr/>
        </p:nvSpPr>
        <p:spPr>
          <a:xfrm>
            <a:off x="1524000" y="7452271"/>
            <a:ext cx="2488704" cy="495300"/>
          </a:xfrm>
          <a:prstGeom prst="rect">
            <a:avLst/>
          </a:prstGeom>
          <a:noFill/>
          <a:ln/>
        </p:spPr>
        <p:txBody>
          <a:bodyPr wrap="square" lIns="25400" tIns="25400" rIns="25400" bIns="25400" rtlCol="0" anchor="t">
            <a:normAutofit/>
          </a:bodyPr>
          <a:lstStyle/>
          <a:p>
            <a:pPr algn="l" indent="0" marL="0">
              <a:buNone/>
            </a:pPr>
            <a:r>
              <a:rPr lang="en-US" sz="3000" dirty="0">
                <a:solidFill>
                  <a:srgbClr val="FAFAFA"/>
                </a:solidFill>
                <a:latin typeface="PP Neue Montreal" pitchFamily="34" charset="0"/>
                <a:ea typeface="PP Neue Montreal" pitchFamily="34" charset="-122"/>
                <a:cs typeface="PP Neue Montreal" pitchFamily="34" charset="-120"/>
              </a:rPr>
              <a:t>Danny Sullivan</a:t>
            </a:r>
            <a:endParaRPr lang="en-US" sz="3000" dirty="0"/>
          </a:p>
        </p:txBody>
      </p:sp>
      <p:sp>
        <p:nvSpPr>
          <p:cNvPr id="5" name="Text 3"/>
          <p:cNvSpPr/>
          <p:nvPr/>
        </p:nvSpPr>
        <p:spPr>
          <a:xfrm>
            <a:off x="4241304" y="7499896"/>
            <a:ext cx="6667324" cy="428625"/>
          </a:xfrm>
          <a:prstGeom prst="rect">
            <a:avLst/>
          </a:prstGeom>
          <a:noFill/>
          <a:ln/>
        </p:spPr>
        <p:txBody>
          <a:bodyPr wrap="square" lIns="25400" tIns="25400" rIns="25400" bIns="25400" rtlCol="0" anchor="t">
            <a:normAutofit/>
          </a:bodyPr>
          <a:lstStyle/>
          <a:p>
            <a:pPr algn="l" indent="0" marL="0">
              <a:buNone/>
            </a:pPr>
            <a:r>
              <a:rPr lang="en-US" sz="2550" dirty="0">
                <a:solidFill>
                  <a:srgbClr val="999999"/>
                </a:solidFill>
                <a:latin typeface="PP Neue Montreal" pitchFamily="34" charset="0"/>
                <a:ea typeface="PP Neue Montreal" pitchFamily="34" charset="-122"/>
                <a:cs typeface="PP Neue Montreal" pitchFamily="34" charset="-120"/>
              </a:rPr>
              <a:t>Google · Search Central Live Toronto, abril 2026</a:t>
            </a:r>
            <a:endParaRPr lang="en-US" sz="2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1524000" y="2377529"/>
            <a:ext cx="15697200" cy="1104900"/>
          </a:xfrm>
          <a:prstGeom prst="rect">
            <a:avLst/>
          </a:prstGeom>
          <a:noFill/>
          <a:ln/>
        </p:spPr>
        <p:txBody>
          <a:bodyPr wrap="square" lIns="25400" tIns="25400" rIns="25400" bIns="25400" rtlCol="0" anchor="t">
            <a:normAutofit/>
          </a:bodyPr>
          <a:lstStyle/>
          <a:p>
            <a:pPr algn="l" indent="0" marL="0">
              <a:lnSpc>
                <a:spcPct val="50000"/>
              </a:lnSpc>
              <a:buNone/>
            </a:pPr>
            <a:r>
              <a:rPr lang="en-US" sz="21000" dirty="0">
                <a:solidFill>
                  <a:srgbClr val="FFD600"/>
                </a:solidFill>
                <a:latin typeface="DM Serif Display" pitchFamily="34" charset="0"/>
                <a:ea typeface="DM Serif Display" pitchFamily="34" charset="-122"/>
                <a:cs typeface="DM Serif Display" pitchFamily="34" charset="-120"/>
              </a:rPr>
              <a:t>"</a:t>
            </a:r>
            <a:endParaRPr lang="en-US" sz="21000" dirty="0"/>
          </a:p>
        </p:txBody>
      </p:sp>
      <p:sp>
        <p:nvSpPr>
          <p:cNvPr id="3" name="Text 1"/>
          <p:cNvSpPr/>
          <p:nvPr/>
        </p:nvSpPr>
        <p:spPr>
          <a:xfrm>
            <a:off x="1524000" y="3672929"/>
            <a:ext cx="15697200" cy="3055441"/>
          </a:xfrm>
          <a:prstGeom prst="rect">
            <a:avLst/>
          </a:prstGeom>
          <a:noFill/>
          <a:ln/>
        </p:spPr>
        <p:txBody>
          <a:bodyPr wrap="square" lIns="25400" tIns="25400" rIns="25400" bIns="25400" rtlCol="0" anchor="t">
            <a:normAutofit/>
          </a:bodyPr>
          <a:lstStyle/>
          <a:p>
            <a:pPr algn="l" indent="0" marL="0">
              <a:lnSpc>
                <a:spcPct val="110000"/>
              </a:lnSpc>
              <a:buNone/>
            </a:pPr>
            <a:r>
              <a:rPr lang="en-US" sz="7200" i="1" spc="-144" kern="0" dirty="0">
                <a:solidFill>
                  <a:srgbClr val="FAFAFA"/>
                </a:solidFill>
                <a:latin typeface="DM Serif Display" pitchFamily="34" charset="0"/>
                <a:ea typeface="DM Serif Display" pitchFamily="34" charset="-122"/>
                <a:cs typeface="DM Serif Display" pitchFamily="34" charset="-120"/>
              </a:rPr>
              <a:t>Metric debt </a:t>
            </a:r>
            <a:pPr algn="l" indent="0" marL="0">
              <a:lnSpc>
                <a:spcPct val="110000"/>
              </a:lnSpc>
              <a:buNone/>
            </a:pPr>
            <a:r>
              <a:rPr lang="en-US" sz="7200" spc="-144" kern="0" dirty="0">
                <a:solidFill>
                  <a:srgbClr val="FAFAFA"/>
                </a:solidFill>
                <a:latin typeface="DM Serif Display" pitchFamily="34" charset="0"/>
                <a:ea typeface="DM Serif Display" pitchFamily="34" charset="-122"/>
                <a:cs typeface="DM Serif Display" pitchFamily="34" charset="-120"/>
              </a:rPr>
              <a:t>— el coste acumulado de optimizar por KPIs que ya no reflejan cómo crece el negocio.</a:t>
            </a:r>
            <a:endParaRPr lang="en-US" sz="7200" dirty="0"/>
          </a:p>
        </p:txBody>
      </p:sp>
      <p:sp>
        <p:nvSpPr>
          <p:cNvPr id="4" name="Text 2"/>
          <p:cNvSpPr/>
          <p:nvPr/>
        </p:nvSpPr>
        <p:spPr>
          <a:xfrm>
            <a:off x="1524000" y="7452271"/>
            <a:ext cx="3509183" cy="495300"/>
          </a:xfrm>
          <a:prstGeom prst="rect">
            <a:avLst/>
          </a:prstGeom>
          <a:noFill/>
          <a:ln/>
        </p:spPr>
        <p:txBody>
          <a:bodyPr wrap="square" lIns="25400" tIns="25400" rIns="25400" bIns="25400" rtlCol="0" anchor="t">
            <a:normAutofit/>
          </a:bodyPr>
          <a:lstStyle/>
          <a:p>
            <a:pPr algn="l" indent="0" marL="0">
              <a:buNone/>
            </a:pPr>
            <a:r>
              <a:rPr lang="en-US" sz="3000" dirty="0">
                <a:solidFill>
                  <a:srgbClr val="FAFAFA"/>
                </a:solidFill>
                <a:latin typeface="PP Neue Montreal" pitchFamily="34" charset="0"/>
                <a:ea typeface="PP Neue Montreal" pitchFamily="34" charset="-122"/>
                <a:cs typeface="PP Neue Montreal" pitchFamily="34" charset="-120"/>
              </a:rPr>
              <a:t>Bengu Sarica Dincer</a:t>
            </a:r>
            <a:endParaRPr lang="en-US" sz="3000" dirty="0"/>
          </a:p>
        </p:txBody>
      </p:sp>
      <p:sp>
        <p:nvSpPr>
          <p:cNvPr id="5" name="Text 3"/>
          <p:cNvSpPr/>
          <p:nvPr/>
        </p:nvSpPr>
        <p:spPr>
          <a:xfrm>
            <a:off x="5235773" y="7499896"/>
            <a:ext cx="5128263" cy="428625"/>
          </a:xfrm>
          <a:prstGeom prst="rect">
            <a:avLst/>
          </a:prstGeom>
          <a:noFill/>
          <a:ln/>
        </p:spPr>
        <p:txBody>
          <a:bodyPr wrap="square" lIns="25400" tIns="25400" rIns="25400" bIns="25400" rtlCol="0" anchor="t">
            <a:normAutofit/>
          </a:bodyPr>
          <a:lstStyle/>
          <a:p>
            <a:pPr algn="l" indent="0" marL="0">
              <a:buNone/>
            </a:pPr>
            <a:r>
              <a:rPr lang="en-US" sz="2550" dirty="0">
                <a:solidFill>
                  <a:srgbClr val="999999"/>
                </a:solidFill>
                <a:latin typeface="PP Neue Montreal" pitchFamily="34" charset="0"/>
                <a:ea typeface="PP Neue Montreal" pitchFamily="34" charset="-122"/>
                <a:cs typeface="PP Neue Montreal" pitchFamily="34" charset="-120"/>
              </a:rPr>
              <a:t>Search Engine Journal, febrero 2026</a:t>
            </a:r>
            <a:endParaRPr lang="en-US" sz="2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D600"/>
        </a:solidFill>
      </p:bgPr>
    </p:bg>
    <p:spTree>
      <p:nvGrpSpPr>
        <p:cNvPr id="1" name=""/>
        <p:cNvGrpSpPr/>
        <p:nvPr/>
      </p:nvGrpSpPr>
      <p:grpSpPr>
        <a:xfrm>
          <a:off x="0" y="0"/>
          <a:ext cx="0" cy="0"/>
          <a:chOff x="0" y="0"/>
          <a:chExt cx="0" cy="0"/>
        </a:xfrm>
      </p:grpSpPr>
      <p:sp>
        <p:nvSpPr>
          <p:cNvPr id="2" name="Text 0"/>
          <p:cNvSpPr/>
          <p:nvPr/>
        </p:nvSpPr>
        <p:spPr>
          <a:xfrm>
            <a:off x="1524000" y="4053185"/>
            <a:ext cx="10375328" cy="2218730"/>
          </a:xfrm>
          <a:prstGeom prst="rect">
            <a:avLst/>
          </a:prstGeom>
          <a:noFill/>
          <a:ln/>
        </p:spPr>
        <p:txBody>
          <a:bodyPr wrap="square" lIns="25400" tIns="25400" rIns="25400" bIns="25400" rtlCol="0" anchor="t">
            <a:normAutofit/>
          </a:bodyPr>
          <a:lstStyle/>
          <a:p>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Sin brújula </a:t>
            </a:r>
            <a:pPr algn="l" indent="0" marL="0">
              <a:lnSpc>
                <a:spcPct val="106000"/>
              </a:lnSpc>
              <a:buNone/>
            </a:pPr>
            <a:r>
              <a:rPr lang="en-US" sz="8100" i="1" spc="-162" kern="0" dirty="0">
                <a:solidFill>
                  <a:srgbClr val="FFD600"/>
                </a:solidFill>
                <a:highlight>
                  <a:srgbClr val="0A0A0A"/>
                </a:highlight>
                <a:latin typeface="DM Serif Display" pitchFamily="34" charset="0"/>
                <a:ea typeface="DM Serif Display" pitchFamily="34" charset="-122"/>
                <a:cs typeface="DM Serif Display" pitchFamily="34" charset="-120"/>
              </a:rPr>
              <a:t>emocional </a:t>
            </a:r>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 la razón se paraliza.</a:t>
            </a:r>
            <a:endParaRPr lang="en-US" sz="8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222166" y="2455515"/>
            <a:ext cx="3843668" cy="381000"/>
          </a:xfrm>
          <a:prstGeom prst="rect">
            <a:avLst/>
          </a:prstGeom>
          <a:noFill/>
          <a:ln/>
        </p:spPr>
        <p:txBody>
          <a:bodyPr wrap="square" lIns="25400" tIns="25400" rIns="25400" bIns="25400" rtlCol="0" anchor="t">
            <a:normAutofit/>
          </a:bodyPr>
          <a:lstStyle/>
          <a:p>
            <a:pPr algn="ctr" indent="0" marL="0">
              <a:buNone/>
            </a:pPr>
            <a:r>
              <a:rPr lang="en-US" sz="2250" spc="405" kern="0" dirty="0">
                <a:solidFill>
                  <a:srgbClr val="999999"/>
                </a:solidFill>
                <a:latin typeface="PP Neue Montreal" pitchFamily="34" charset="0"/>
                <a:ea typeface="PP Neue Montreal" pitchFamily="34" charset="-122"/>
                <a:cs typeface="PP Neue Montreal" pitchFamily="34" charset="-120"/>
              </a:rPr>
              <a:t>KEYWORD RESEARCH</a:t>
            </a:r>
            <a:endParaRPr lang="en-US" sz="2250" dirty="0"/>
          </a:p>
        </p:txBody>
      </p:sp>
      <p:sp>
        <p:nvSpPr>
          <p:cNvPr id="3" name="Text 1"/>
          <p:cNvSpPr/>
          <p:nvPr/>
        </p:nvSpPr>
        <p:spPr>
          <a:xfrm>
            <a:off x="7775862" y="3027015"/>
            <a:ext cx="2736126" cy="2438400"/>
          </a:xfrm>
          <a:prstGeom prst="rect">
            <a:avLst/>
          </a:prstGeom>
          <a:noFill/>
          <a:ln/>
        </p:spPr>
        <p:txBody>
          <a:bodyPr wrap="square" lIns="25400" tIns="25400" rIns="25400" bIns="25400" rtlCol="0" anchor="t">
            <a:normAutofit/>
          </a:bodyPr>
          <a:lstStyle/>
          <a:p>
            <a:pPr algn="ctr" indent="0" marL="0">
              <a:lnSpc>
                <a:spcPct val="90000"/>
              </a:lnSpc>
              <a:buNone/>
            </a:pPr>
            <a:r>
              <a:rPr lang="en-US" sz="21000" i="1" spc="-840" kern="0" dirty="0">
                <a:solidFill>
                  <a:srgbClr val="FFD600"/>
                </a:solidFill>
                <a:latin typeface="DM Serif Display" pitchFamily="34" charset="0"/>
                <a:ea typeface="DM Serif Display" pitchFamily="34" charset="-122"/>
                <a:cs typeface="DM Serif Display" pitchFamily="34" charset="-120"/>
              </a:rPr>
              <a:t>40</a:t>
            </a:r>
            <a:endParaRPr lang="en-US" sz="21000" dirty="0"/>
          </a:p>
        </p:txBody>
      </p:sp>
      <p:sp>
        <p:nvSpPr>
          <p:cNvPr id="4" name="Text 2"/>
          <p:cNvSpPr/>
          <p:nvPr/>
        </p:nvSpPr>
        <p:spPr>
          <a:xfrm>
            <a:off x="7571061" y="5732115"/>
            <a:ext cx="3145878" cy="708571"/>
          </a:xfrm>
          <a:prstGeom prst="rect">
            <a:avLst/>
          </a:prstGeom>
          <a:noFill/>
          <a:ln/>
        </p:spPr>
        <p:txBody>
          <a:bodyPr wrap="square" lIns="25400" tIns="25400" rIns="25400" bIns="25400" rtlCol="0" anchor="t">
            <a:normAutofit/>
          </a:bodyPr>
          <a:lstStyle/>
          <a:p>
            <a:pPr algn="ctr" indent="0" marL="0">
              <a:lnSpc>
                <a:spcPct val="110000"/>
              </a:lnSpc>
              <a:buNone/>
            </a:pPr>
            <a:r>
              <a:rPr lang="en-US" sz="4800" i="1" spc="-96" kern="0" dirty="0">
                <a:solidFill>
                  <a:srgbClr val="FAFAFA"/>
                </a:solidFill>
                <a:latin typeface="DM Serif Display" pitchFamily="34" charset="0"/>
                <a:ea typeface="DM Serif Display" pitchFamily="34" charset="-122"/>
                <a:cs typeface="DM Serif Display" pitchFamily="34" charset="-120"/>
              </a:rPr>
              <a:t>Descartada</a:t>
            </a:r>
            <a:pPr algn="ctr" indent="0" marL="0">
              <a:lnSpc>
                <a:spcPct val="110000"/>
              </a:lnSpc>
              <a:buNone/>
            </a:pPr>
            <a:r>
              <a:rPr lang="en-US" sz="4800" spc="-96" kern="0" dirty="0">
                <a:solidFill>
                  <a:srgbClr val="FAFAFA"/>
                </a:solidFill>
                <a:latin typeface="DM Serif Display" pitchFamily="34" charset="0"/>
                <a:ea typeface="DM Serif Display" pitchFamily="34" charset="-122"/>
                <a:cs typeface="DM Serif Display" pitchFamily="34" charset="-120"/>
              </a:rPr>
              <a:t>.</a:t>
            </a:r>
            <a:endParaRPr lang="en-US" sz="4800" dirty="0"/>
          </a:p>
        </p:txBody>
      </p:sp>
      <p:sp>
        <p:nvSpPr>
          <p:cNvPr id="5" name="Text 3"/>
          <p:cNvSpPr/>
          <p:nvPr/>
        </p:nvSpPr>
        <p:spPr>
          <a:xfrm>
            <a:off x="5863377" y="6859786"/>
            <a:ext cx="6561246" cy="1009650"/>
          </a:xfrm>
          <a:prstGeom prst="rect">
            <a:avLst/>
          </a:prstGeom>
          <a:noFill/>
          <a:ln/>
        </p:spPr>
        <p:txBody>
          <a:bodyPr wrap="square" lIns="25400" tIns="25400" rIns="25400" bIns="25400" rtlCol="0" anchor="t">
            <a:normAutofit/>
          </a:bodyPr>
          <a:lstStyle/>
          <a:p>
            <a:pPr algn="ctr" indent="0" marL="0">
              <a:lnSpc>
                <a:spcPct val="150000"/>
              </a:lnSpc>
              <a:buNone/>
            </a:pPr>
            <a:r>
              <a:rPr lang="en-US" sz="2550" dirty="0">
                <a:solidFill>
                  <a:srgbClr val="999999"/>
                </a:solidFill>
                <a:latin typeface="PP Neue Montreal" pitchFamily="34" charset="0"/>
                <a:ea typeface="PP Neue Montreal" pitchFamily="34" charset="-122"/>
                <a:cs typeface="PP Neue Montreal" pitchFamily="34" charset="-120"/>
              </a:rPr>
              <a:t>Volumen 40. KD 72. Una fila en un spreadsheet. Para esa persona, era una pregunta.</a:t>
            </a:r>
            <a:endParaRPr lang="en-US" sz="2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D600"/>
        </a:solidFill>
      </p:bgPr>
    </p:bg>
    <p:spTree>
      <p:nvGrpSpPr>
        <p:cNvPr id="1" name=""/>
        <p:cNvGrpSpPr/>
        <p:nvPr/>
      </p:nvGrpSpPr>
      <p:grpSpPr>
        <a:xfrm>
          <a:off x="0" y="0"/>
          <a:ext cx="0" cy="0"/>
          <a:chOff x="0" y="0"/>
          <a:chExt cx="0" cy="0"/>
        </a:xfrm>
      </p:grpSpPr>
      <p:sp>
        <p:nvSpPr>
          <p:cNvPr id="2" name="Text 0"/>
          <p:cNvSpPr/>
          <p:nvPr/>
        </p:nvSpPr>
        <p:spPr>
          <a:xfrm>
            <a:off x="1524000" y="4053185"/>
            <a:ext cx="10236751" cy="2218730"/>
          </a:xfrm>
          <a:prstGeom prst="rect">
            <a:avLst/>
          </a:prstGeom>
          <a:noFill/>
          <a:ln/>
        </p:spPr>
        <p:txBody>
          <a:bodyPr wrap="square" lIns="25400" tIns="25400" rIns="25400" bIns="25400" rtlCol="0" anchor="t">
            <a:normAutofit/>
          </a:bodyPr>
          <a:lstStyle/>
          <a:p>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Pero hay otra forma. Y empieza por </a:t>
            </a:r>
            <a:pPr algn="l" indent="0" marL="0">
              <a:lnSpc>
                <a:spcPct val="106000"/>
              </a:lnSpc>
              <a:buNone/>
            </a:pPr>
            <a:r>
              <a:rPr lang="en-US" sz="8100" i="1" spc="-162" kern="0" dirty="0">
                <a:solidFill>
                  <a:srgbClr val="0A0A0A"/>
                </a:solidFill>
                <a:latin typeface="DM Serif Display" pitchFamily="34" charset="0"/>
                <a:ea typeface="DM Serif Display" pitchFamily="34" charset="-122"/>
                <a:cs typeface="DM Serif Display" pitchFamily="34" charset="-120"/>
              </a:rPr>
              <a:t>mirarse</a:t>
            </a:r>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a:t>
            </a:r>
            <a:endParaRPr lang="en-US" sz="8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D600"/>
        </a:solidFill>
      </p:bgPr>
    </p:bg>
    <p:spTree>
      <p:nvGrpSpPr>
        <p:cNvPr id="1" name=""/>
        <p:cNvGrpSpPr/>
        <p:nvPr/>
      </p:nvGrpSpPr>
      <p:grpSpPr>
        <a:xfrm>
          <a:off x="0" y="0"/>
          <a:ext cx="0" cy="0"/>
          <a:chOff x="0" y="0"/>
          <a:chExt cx="0" cy="0"/>
        </a:xfrm>
      </p:grpSpPr>
      <p:sp>
        <p:nvSpPr>
          <p:cNvPr id="2" name="Text 0"/>
          <p:cNvSpPr/>
          <p:nvPr/>
        </p:nvSpPr>
        <p:spPr>
          <a:xfrm>
            <a:off x="1524000" y="4598343"/>
            <a:ext cx="9649639" cy="1128415"/>
          </a:xfrm>
          <a:prstGeom prst="rect">
            <a:avLst/>
          </a:prstGeom>
          <a:noFill/>
          <a:ln/>
        </p:spPr>
        <p:txBody>
          <a:bodyPr wrap="square" lIns="25400" tIns="25400" rIns="25400" bIns="25400" rtlCol="0" anchor="t">
            <a:normAutofit/>
          </a:bodyPr>
          <a:lstStyle/>
          <a:p>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Brecha de </a:t>
            </a:r>
            <a:pPr algn="l" indent="0" marL="0">
              <a:lnSpc>
                <a:spcPct val="106000"/>
              </a:lnSpc>
              <a:buNone/>
            </a:pPr>
            <a:r>
              <a:rPr lang="en-US" sz="8100" i="1" spc="-162" kern="0" dirty="0">
                <a:solidFill>
                  <a:srgbClr val="0A0A0A"/>
                </a:solidFill>
                <a:latin typeface="DM Serif Display" pitchFamily="34" charset="0"/>
                <a:ea typeface="DM Serif Display" pitchFamily="34" charset="-122"/>
                <a:cs typeface="DM Serif Display" pitchFamily="34" charset="-120"/>
              </a:rPr>
              <a:t>percepción</a:t>
            </a:r>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a:t>
            </a:r>
            <a:endParaRPr lang="en-US" sz="8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D600"/>
        </a:solidFill>
      </p:bgPr>
    </p:bg>
    <p:spTree>
      <p:nvGrpSpPr>
        <p:cNvPr id="1" name=""/>
        <p:cNvGrpSpPr/>
        <p:nvPr/>
      </p:nvGrpSpPr>
      <p:grpSpPr>
        <a:xfrm>
          <a:off x="0" y="0"/>
          <a:ext cx="0" cy="0"/>
          <a:chOff x="0" y="0"/>
          <a:chExt cx="0" cy="0"/>
        </a:xfrm>
      </p:grpSpPr>
      <p:sp>
        <p:nvSpPr>
          <p:cNvPr id="2" name="Text 0"/>
          <p:cNvSpPr/>
          <p:nvPr/>
        </p:nvSpPr>
        <p:spPr>
          <a:xfrm>
            <a:off x="1524000" y="4598343"/>
            <a:ext cx="8863399" cy="1128415"/>
          </a:xfrm>
          <a:prstGeom prst="rect">
            <a:avLst/>
          </a:prstGeom>
          <a:noFill/>
          <a:ln/>
        </p:spPr>
        <p:txBody>
          <a:bodyPr wrap="square" lIns="25400" tIns="25400" rIns="25400" bIns="25400" rtlCol="0" anchor="t">
            <a:normAutofit/>
          </a:bodyPr>
          <a:lstStyle/>
          <a:p>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Deuda de </a:t>
            </a:r>
            <a:pPr algn="l" indent="0" marL="0">
              <a:lnSpc>
                <a:spcPct val="106000"/>
              </a:lnSpc>
              <a:buNone/>
            </a:pPr>
            <a:r>
              <a:rPr lang="en-US" sz="8100" i="1" spc="-162" kern="0" dirty="0">
                <a:solidFill>
                  <a:srgbClr val="0A0A0A"/>
                </a:solidFill>
                <a:latin typeface="DM Serif Display" pitchFamily="34" charset="0"/>
                <a:ea typeface="DM Serif Display" pitchFamily="34" charset="-122"/>
                <a:cs typeface="DM Serif Display" pitchFamily="34" charset="-120"/>
              </a:rPr>
              <a:t>identidad</a:t>
            </a:r>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a:t>
            </a:r>
            <a:endParaRPr lang="en-US" sz="8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1524000" y="2962870"/>
            <a:ext cx="15697200" cy="4399359"/>
          </a:xfrm>
          <a:prstGeom prst="rect">
            <a:avLst/>
          </a:prstGeom>
          <a:noFill/>
          <a:ln/>
        </p:spPr>
        <p:txBody>
          <a:bodyPr wrap="square" lIns="25400" tIns="25400" rIns="25400" bIns="25400" rtlCol="0" anchor="t">
            <a:normAutofit/>
          </a:bodyPr>
          <a:lstStyle/>
          <a:p>
            <a:pPr algn="l" indent="0" marL="0">
              <a:lnSpc>
                <a:spcPct val="106000"/>
              </a:lnSpc>
              <a:buNone/>
            </a:pPr>
            <a:r>
              <a:rPr lang="en-US" sz="8100" spc="-162" kern="0" dirty="0">
                <a:solidFill>
                  <a:srgbClr val="FAFAFA"/>
                </a:solidFill>
                <a:latin typeface="DM Serif Display" pitchFamily="34" charset="0"/>
                <a:ea typeface="DM Serif Display" pitchFamily="34" charset="-122"/>
                <a:cs typeface="DM Serif Display" pitchFamily="34" charset="-120"/>
              </a:rPr>
              <a:t>Muchos problemas de crecimiento parecen problemas de </a:t>
            </a:r>
            <a:pPr algn="l" indent="0" marL="0">
              <a:lnSpc>
                <a:spcPct val="106000"/>
              </a:lnSpc>
              <a:buNone/>
            </a:pPr>
            <a:r>
              <a:rPr lang="en-US" sz="8100" i="1" spc="-162" kern="0" dirty="0">
                <a:solidFill>
                  <a:srgbClr val="0A0A0A"/>
                </a:solidFill>
                <a:highlight>
                  <a:srgbClr val="FFD600"/>
                </a:highlight>
                <a:latin typeface="DM Serif Display" pitchFamily="34" charset="0"/>
                <a:ea typeface="DM Serif Display" pitchFamily="34" charset="-122"/>
                <a:cs typeface="DM Serif Display" pitchFamily="34" charset="-120"/>
              </a:rPr>
              <a:t>captación </a:t>
            </a:r>
            <a:pPr algn="l" indent="0" marL="0">
              <a:lnSpc>
                <a:spcPct val="106000"/>
              </a:lnSpc>
              <a:buNone/>
            </a:pPr>
            <a:r>
              <a:rPr lang="en-US" sz="8100" spc="-162" kern="0" dirty="0">
                <a:solidFill>
                  <a:srgbClr val="FAFAFA"/>
                </a:solidFill>
                <a:latin typeface="DM Serif Display" pitchFamily="34" charset="0"/>
                <a:ea typeface="DM Serif Display" pitchFamily="34" charset="-122"/>
                <a:cs typeface="DM Serif Display" pitchFamily="34" charset="-120"/>
              </a:rPr>
              <a:t>. Casi siempre son problemas de </a:t>
            </a:r>
            <a:pPr algn="l" indent="0" marL="0">
              <a:lnSpc>
                <a:spcPct val="106000"/>
              </a:lnSpc>
              <a:buNone/>
            </a:pPr>
            <a:r>
              <a:rPr lang="en-US" sz="8100" i="1" spc="-162" kern="0" dirty="0">
                <a:solidFill>
                  <a:srgbClr val="0A0A0A"/>
                </a:solidFill>
                <a:highlight>
                  <a:srgbClr val="FFD600"/>
                </a:highlight>
                <a:latin typeface="DM Serif Display" pitchFamily="34" charset="0"/>
                <a:ea typeface="DM Serif Display" pitchFamily="34" charset="-122"/>
                <a:cs typeface="DM Serif Display" pitchFamily="34" charset="-120"/>
              </a:rPr>
              <a:t>identidad </a:t>
            </a:r>
            <a:pPr algn="l" indent="0" marL="0">
              <a:lnSpc>
                <a:spcPct val="106000"/>
              </a:lnSpc>
              <a:buNone/>
            </a:pPr>
            <a:r>
              <a:rPr lang="en-US" sz="8100" spc="-162" kern="0" dirty="0">
                <a:solidFill>
                  <a:srgbClr val="FAFAFA"/>
                </a:solidFill>
                <a:latin typeface="DM Serif Display" pitchFamily="34" charset="0"/>
                <a:ea typeface="DM Serif Display" pitchFamily="34" charset="-122"/>
                <a:cs typeface="DM Serif Display" pitchFamily="34" charset="-120"/>
              </a:rPr>
              <a:t>.</a:t>
            </a:r>
            <a:endParaRPr lang="en-US" sz="8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A0A0A"/>
          </a:solidFill>
          <a:ln/>
        </p:spPr>
      </p:sp>
      <p:sp>
        <p:nvSpPr>
          <p:cNvPr id="3" name="Text 1"/>
          <p:cNvSpPr/>
          <p:nvPr/>
        </p:nvSpPr>
        <p:spPr>
          <a:xfrm>
            <a:off x="1524000" y="914400"/>
            <a:ext cx="15697200" cy="381000"/>
          </a:xfrm>
          <a:prstGeom prst="rect">
            <a:avLst/>
          </a:prstGeom>
          <a:noFill/>
          <a:ln/>
        </p:spPr>
        <p:txBody>
          <a:bodyPr wrap="square" lIns="25400" tIns="25400" rIns="25400" bIns="25400" rtlCol="0" anchor="t">
            <a:normAutofit/>
          </a:bodyPr>
          <a:lstStyle/>
          <a:p>
            <a:pPr algn="l" indent="0" marL="0">
              <a:buNone/>
            </a:pPr>
            <a:r>
              <a:rPr lang="en-US" sz="2250" spc="405" kern="0" dirty="0">
                <a:solidFill>
                  <a:srgbClr val="FFD600"/>
                </a:solidFill>
                <a:latin typeface="PP Neue Montreal" pitchFamily="34" charset="0"/>
                <a:ea typeface="PP Neue Montreal" pitchFamily="34" charset="-122"/>
                <a:cs typeface="PP Neue Montreal" pitchFamily="34" charset="-120"/>
              </a:rPr>
              <a:t>UN CASO REAL</a:t>
            </a:r>
            <a:endParaRPr lang="en-US" sz="2250" dirty="0"/>
          </a:p>
        </p:txBody>
      </p:sp>
      <p:sp>
        <p:nvSpPr>
          <p:cNvPr id="4" name="Text 2"/>
          <p:cNvSpPr/>
          <p:nvPr/>
        </p:nvSpPr>
        <p:spPr>
          <a:xfrm>
            <a:off x="1524000" y="1447800"/>
            <a:ext cx="15697200" cy="830461"/>
          </a:xfrm>
          <a:prstGeom prst="rect">
            <a:avLst/>
          </a:prstGeom>
          <a:noFill/>
          <a:ln/>
        </p:spPr>
        <p:txBody>
          <a:bodyPr wrap="square" lIns="25400" tIns="25400" rIns="25400" bIns="25400" rtlCol="0" anchor="t">
            <a:normAutofit/>
          </a:bodyPr>
          <a:lstStyle/>
          <a:p>
            <a:pPr algn="l" indent="0" marL="0">
              <a:lnSpc>
                <a:spcPct val="104000"/>
              </a:lnSpc>
              <a:buNone/>
            </a:pPr>
            <a:r>
              <a:rPr lang="en-US" sz="6000" spc="-120" kern="0" dirty="0">
                <a:solidFill>
                  <a:srgbClr val="FAFAFA"/>
                </a:solidFill>
                <a:latin typeface="DM Serif Display" pitchFamily="34" charset="0"/>
                <a:ea typeface="DM Serif Display" pitchFamily="34" charset="-122"/>
                <a:cs typeface="DM Serif Display" pitchFamily="34" charset="-120"/>
              </a:rPr>
              <a:t>Lo que </a:t>
            </a:r>
            <a:pPr algn="l" indent="0" marL="0">
              <a:lnSpc>
                <a:spcPct val="104000"/>
              </a:lnSpc>
              <a:buNone/>
            </a:pPr>
            <a:r>
              <a:rPr lang="en-US" sz="6000" i="1" spc="-120" kern="0" dirty="0">
                <a:solidFill>
                  <a:srgbClr val="FAFAFA"/>
                </a:solidFill>
                <a:latin typeface="DM Serif Display" pitchFamily="34" charset="0"/>
                <a:ea typeface="DM Serif Display" pitchFamily="34" charset="-122"/>
                <a:cs typeface="DM Serif Display" pitchFamily="34" charset="-120"/>
              </a:rPr>
              <a:t>Google </a:t>
            </a:r>
            <a:pPr algn="l" indent="0" marL="0">
              <a:lnSpc>
                <a:spcPct val="104000"/>
              </a:lnSpc>
              <a:buNone/>
            </a:pPr>
            <a:r>
              <a:rPr lang="en-US" sz="6000" spc="-120" kern="0" dirty="0">
                <a:solidFill>
                  <a:srgbClr val="FAFAFA"/>
                </a:solidFill>
                <a:latin typeface="DM Serif Display" pitchFamily="34" charset="0"/>
                <a:ea typeface="DM Serif Display" pitchFamily="34" charset="-122"/>
                <a:cs typeface="DM Serif Display" pitchFamily="34" charset="-120"/>
              </a:rPr>
              <a:t>lee.</a:t>
            </a:r>
            <a:endParaRPr lang="en-US" sz="6000" dirty="0"/>
          </a:p>
        </p:txBody>
      </p:sp>
      <p:sp>
        <p:nvSpPr>
          <p:cNvPr id="5" name="Shape 3"/>
          <p:cNvSpPr/>
          <p:nvPr/>
        </p:nvSpPr>
        <p:spPr>
          <a:xfrm>
            <a:off x="0" y="2667000"/>
            <a:ext cx="18288000" cy="7620000"/>
          </a:xfrm>
          <a:prstGeom prst="rect">
            <a:avLst/>
          </a:prstGeom>
          <a:solidFill>
            <a:srgbClr val="0A0A0A"/>
          </a:solidFill>
          <a:ln/>
        </p:spPr>
      </p:sp>
      <p:pic>
        <p:nvPicPr>
          <p:cNvPr id="6" name="Image 0" descr="preencoded.png">    </p:cNvPr>
          <p:cNvPicPr>
            <a:picLocks noChangeAspect="1"/>
          </p:cNvPicPr>
          <p:nvPr/>
        </p:nvPicPr>
        <p:blipFill>
          <a:blip r:embed="rId1"/>
          <a:srcRect l="0" r="0" t="0" b="0"/>
          <a:stretch/>
        </p:blipFill>
        <p:spPr>
          <a:xfrm>
            <a:off x="0" y="2667000"/>
            <a:ext cx="18288000" cy="762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A0A0A"/>
          </a:solidFill>
          <a:ln/>
        </p:spPr>
      </p:sp>
      <p:sp>
        <p:nvSpPr>
          <p:cNvPr id="3" name="Shape 1"/>
          <p:cNvSpPr/>
          <p:nvPr/>
        </p:nvSpPr>
        <p:spPr>
          <a:xfrm>
            <a:off x="6086475" y="0"/>
            <a:ext cx="9525" cy="10287000"/>
          </a:xfrm>
          <a:prstGeom prst="rect">
            <a:avLst/>
          </a:prstGeom>
          <a:solidFill>
            <a:srgbClr val="FFFFFF">
              <a:alpha val="8000"/>
            </a:srgbClr>
          </a:solidFill>
          <a:ln/>
        </p:spPr>
      </p:sp>
      <p:sp>
        <p:nvSpPr>
          <p:cNvPr id="4" name="Shape 2"/>
          <p:cNvSpPr/>
          <p:nvPr/>
        </p:nvSpPr>
        <p:spPr>
          <a:xfrm>
            <a:off x="0" y="0"/>
            <a:ext cx="6096000" cy="6858000"/>
          </a:xfrm>
          <a:prstGeom prst="rect">
            <a:avLst/>
          </a:prstGeom>
          <a:solidFill>
            <a:srgbClr val="FAFAFA"/>
          </a:solidFill>
          <a:ln/>
        </p:spPr>
      </p:sp>
      <p:sp>
        <p:nvSpPr>
          <p:cNvPr id="5" name="Shape 3"/>
          <p:cNvSpPr/>
          <p:nvPr/>
        </p:nvSpPr>
        <p:spPr>
          <a:xfrm>
            <a:off x="0" y="0"/>
            <a:ext cx="6096000" cy="6858000"/>
          </a:xfrm>
          <a:prstGeom prst="rect">
            <a:avLst/>
          </a:prstGeom>
          <a:solidFill>
            <a:srgbClr val="FAFAFA"/>
          </a:solidFill>
          <a:ln/>
        </p:spPr>
      </p:sp>
      <p:pic>
        <p:nvPicPr>
          <p:cNvPr id="6" name="Image 0" descr="preencoded.png">    </p:cNvPr>
          <p:cNvPicPr>
            <a:picLocks noChangeAspect="1"/>
          </p:cNvPicPr>
          <p:nvPr/>
        </p:nvPicPr>
        <p:blipFill>
          <a:blip r:embed="rId1"/>
          <a:srcRect l="0" r="0" t="0" b="0"/>
          <a:stretch/>
        </p:blipFill>
        <p:spPr>
          <a:xfrm>
            <a:off x="0" y="0"/>
            <a:ext cx="6096000" cy="6858000"/>
          </a:xfrm>
          <a:prstGeom prst="rect">
            <a:avLst/>
          </a:prstGeom>
        </p:spPr>
      </p:pic>
      <p:sp>
        <p:nvSpPr>
          <p:cNvPr id="7" name="Shape 4"/>
          <p:cNvSpPr/>
          <p:nvPr/>
        </p:nvSpPr>
        <p:spPr>
          <a:xfrm>
            <a:off x="0" y="6858000"/>
            <a:ext cx="6096000" cy="3429000"/>
          </a:xfrm>
          <a:prstGeom prst="rect">
            <a:avLst/>
          </a:prstGeom>
          <a:solidFill>
            <a:srgbClr val="0A0A0A"/>
          </a:solidFill>
          <a:ln/>
        </p:spPr>
      </p:sp>
      <p:sp>
        <p:nvSpPr>
          <p:cNvPr id="8" name="Text 5"/>
          <p:cNvSpPr/>
          <p:nvPr/>
        </p:nvSpPr>
        <p:spPr>
          <a:xfrm>
            <a:off x="457200" y="7519095"/>
            <a:ext cx="5337048" cy="586680"/>
          </a:xfrm>
          <a:prstGeom prst="rect">
            <a:avLst/>
          </a:prstGeom>
          <a:noFill/>
          <a:ln/>
        </p:spPr>
        <p:txBody>
          <a:bodyPr wrap="square" lIns="25400" tIns="25400" rIns="25400" bIns="25400" rtlCol="0" anchor="t">
            <a:normAutofit/>
          </a:bodyPr>
          <a:lstStyle/>
          <a:p>
            <a:pPr algn="l" indent="0" marL="0">
              <a:lnSpc>
                <a:spcPct val="90000"/>
              </a:lnSpc>
              <a:buNone/>
            </a:pPr>
            <a:r>
              <a:rPr lang="en-US" sz="4800" i="1" dirty="0">
                <a:solidFill>
                  <a:srgbClr val="FFD600"/>
                </a:solidFill>
                <a:latin typeface="DM Serif Display" pitchFamily="34" charset="0"/>
                <a:ea typeface="DM Serif Display" pitchFamily="34" charset="-122"/>
                <a:cs typeface="DM Serif Display" pitchFamily="34" charset="-120"/>
              </a:rPr>
              <a:t>01</a:t>
            </a:r>
            <a:endParaRPr lang="en-US" sz="4800" dirty="0"/>
          </a:p>
        </p:txBody>
      </p:sp>
      <p:sp>
        <p:nvSpPr>
          <p:cNvPr id="9" name="Text 6"/>
          <p:cNvSpPr/>
          <p:nvPr/>
        </p:nvSpPr>
        <p:spPr>
          <a:xfrm>
            <a:off x="457200" y="8220075"/>
            <a:ext cx="5337048" cy="540990"/>
          </a:xfrm>
          <a:prstGeom prst="rect">
            <a:avLst/>
          </a:prstGeom>
          <a:noFill/>
          <a:ln/>
        </p:spPr>
        <p:txBody>
          <a:bodyPr wrap="square" lIns="25400" tIns="25400" rIns="25400" bIns="25400" rtlCol="0" anchor="t">
            <a:normAutofit/>
          </a:bodyPr>
          <a:lstStyle/>
          <a:p>
            <a:pPr algn="l" indent="0" marL="0">
              <a:lnSpc>
                <a:spcPct val="110000"/>
              </a:lnSpc>
              <a:buNone/>
            </a:pPr>
            <a:r>
              <a:rPr lang="en-US" sz="3600" spc="-72" kern="0" dirty="0">
                <a:solidFill>
                  <a:srgbClr val="FAFAFA"/>
                </a:solidFill>
                <a:latin typeface="DM Serif Display" pitchFamily="34" charset="0"/>
                <a:ea typeface="DM Serif Display" pitchFamily="34" charset="-122"/>
                <a:cs typeface="DM Serif Display" pitchFamily="34" charset="-120"/>
              </a:rPr>
              <a:t>Pompeii</a:t>
            </a:r>
            <a:endParaRPr lang="en-US" sz="3600" dirty="0"/>
          </a:p>
        </p:txBody>
      </p:sp>
      <p:sp>
        <p:nvSpPr>
          <p:cNvPr id="10" name="Text 7"/>
          <p:cNvSpPr/>
          <p:nvPr/>
        </p:nvSpPr>
        <p:spPr>
          <a:xfrm>
            <a:off x="457200" y="8856315"/>
            <a:ext cx="5101590" cy="731341"/>
          </a:xfrm>
          <a:prstGeom prst="rect">
            <a:avLst/>
          </a:prstGeom>
          <a:noFill/>
          <a:ln/>
        </p:spPr>
        <p:txBody>
          <a:bodyPr wrap="square" lIns="25400" tIns="25400" rIns="25400" bIns="25400" rtlCol="0" anchor="t">
            <a:normAutofit/>
          </a:bodyPr>
          <a:lstStyle/>
          <a:p>
            <a:pPr algn="l" indent="0" marL="0">
              <a:lnSpc>
                <a:spcPct val="130000"/>
              </a:lnSpc>
              <a:buNone/>
            </a:pPr>
            <a:r>
              <a:rPr lang="en-US" sz="2100" dirty="0">
                <a:solidFill>
                  <a:srgbClr val="FAFAFA">
                    <a:alpha val="92000"/>
                  </a:srgbClr>
                </a:solidFill>
                <a:latin typeface="PP Neue Montreal" pitchFamily="34" charset="0"/>
                <a:ea typeface="PP Neue Montreal" pitchFamily="34" charset="-122"/>
                <a:cs typeface="PP Neue Montreal" pitchFamily="34" charset="-120"/>
              </a:rPr>
              <a:t>La ciudad romana ocupa todo. La marca no aparece.</a:t>
            </a:r>
            <a:endParaRPr lang="en-US" sz="2100" dirty="0"/>
          </a:p>
        </p:txBody>
      </p:sp>
      <p:sp>
        <p:nvSpPr>
          <p:cNvPr id="11" name="Shape 8"/>
          <p:cNvSpPr/>
          <p:nvPr/>
        </p:nvSpPr>
        <p:spPr>
          <a:xfrm>
            <a:off x="12182475" y="0"/>
            <a:ext cx="9525" cy="10287000"/>
          </a:xfrm>
          <a:prstGeom prst="rect">
            <a:avLst/>
          </a:prstGeom>
          <a:solidFill>
            <a:srgbClr val="FFFFFF">
              <a:alpha val="8000"/>
            </a:srgbClr>
          </a:solidFill>
          <a:ln/>
        </p:spPr>
      </p:sp>
      <p:sp>
        <p:nvSpPr>
          <p:cNvPr id="12" name="Shape 9"/>
          <p:cNvSpPr/>
          <p:nvPr/>
        </p:nvSpPr>
        <p:spPr>
          <a:xfrm>
            <a:off x="6096000" y="0"/>
            <a:ext cx="6096000" cy="6858000"/>
          </a:xfrm>
          <a:prstGeom prst="rect">
            <a:avLst/>
          </a:prstGeom>
          <a:solidFill>
            <a:srgbClr val="FAFAFA"/>
          </a:solidFill>
          <a:ln/>
        </p:spPr>
      </p:sp>
      <p:sp>
        <p:nvSpPr>
          <p:cNvPr id="13" name="Shape 10"/>
          <p:cNvSpPr/>
          <p:nvPr/>
        </p:nvSpPr>
        <p:spPr>
          <a:xfrm>
            <a:off x="6096000" y="0"/>
            <a:ext cx="6096000" cy="6858000"/>
          </a:xfrm>
          <a:prstGeom prst="rect">
            <a:avLst/>
          </a:prstGeom>
          <a:solidFill>
            <a:srgbClr val="FAFAFA"/>
          </a:solidFill>
          <a:ln/>
        </p:spPr>
      </p:sp>
      <p:pic>
        <p:nvPicPr>
          <p:cNvPr id="14" name="Image 1" descr="preencoded.png">    </p:cNvPr>
          <p:cNvPicPr>
            <a:picLocks noChangeAspect="1"/>
          </p:cNvPicPr>
          <p:nvPr/>
        </p:nvPicPr>
        <p:blipFill>
          <a:blip r:embed="rId2"/>
          <a:srcRect l="0" r="0" t="0" b="0"/>
          <a:stretch/>
        </p:blipFill>
        <p:spPr>
          <a:xfrm>
            <a:off x="6096000" y="0"/>
            <a:ext cx="6096000" cy="6858000"/>
          </a:xfrm>
          <a:prstGeom prst="rect">
            <a:avLst/>
          </a:prstGeom>
        </p:spPr>
      </p:pic>
      <p:sp>
        <p:nvSpPr>
          <p:cNvPr id="15" name="Shape 11"/>
          <p:cNvSpPr/>
          <p:nvPr/>
        </p:nvSpPr>
        <p:spPr>
          <a:xfrm>
            <a:off x="6096000" y="6858000"/>
            <a:ext cx="6096000" cy="3429000"/>
          </a:xfrm>
          <a:prstGeom prst="rect">
            <a:avLst/>
          </a:prstGeom>
          <a:solidFill>
            <a:srgbClr val="0A0A0A"/>
          </a:solidFill>
          <a:ln/>
        </p:spPr>
      </p:sp>
      <p:sp>
        <p:nvSpPr>
          <p:cNvPr id="16" name="Text 12"/>
          <p:cNvSpPr/>
          <p:nvPr/>
        </p:nvSpPr>
        <p:spPr>
          <a:xfrm>
            <a:off x="6553200" y="7519095"/>
            <a:ext cx="5337048" cy="586680"/>
          </a:xfrm>
          <a:prstGeom prst="rect">
            <a:avLst/>
          </a:prstGeom>
          <a:noFill/>
          <a:ln/>
        </p:spPr>
        <p:txBody>
          <a:bodyPr wrap="square" lIns="25400" tIns="25400" rIns="25400" bIns="25400" rtlCol="0" anchor="t">
            <a:normAutofit/>
          </a:bodyPr>
          <a:lstStyle/>
          <a:p>
            <a:pPr algn="l" indent="0" marL="0">
              <a:lnSpc>
                <a:spcPct val="90000"/>
              </a:lnSpc>
              <a:buNone/>
            </a:pPr>
            <a:r>
              <a:rPr lang="en-US" sz="4800" i="1" dirty="0">
                <a:solidFill>
                  <a:srgbClr val="FFD600"/>
                </a:solidFill>
                <a:latin typeface="DM Serif Display" pitchFamily="34" charset="0"/>
                <a:ea typeface="DM Serif Display" pitchFamily="34" charset="-122"/>
                <a:cs typeface="DM Serif Display" pitchFamily="34" charset="-120"/>
              </a:rPr>
              <a:t>02</a:t>
            </a:r>
            <a:endParaRPr lang="en-US" sz="4800" dirty="0"/>
          </a:p>
        </p:txBody>
      </p:sp>
      <p:sp>
        <p:nvSpPr>
          <p:cNvPr id="17" name="Text 13"/>
          <p:cNvSpPr/>
          <p:nvPr/>
        </p:nvSpPr>
        <p:spPr>
          <a:xfrm>
            <a:off x="6553200" y="8220075"/>
            <a:ext cx="5337048" cy="540990"/>
          </a:xfrm>
          <a:prstGeom prst="rect">
            <a:avLst/>
          </a:prstGeom>
          <a:noFill/>
          <a:ln/>
        </p:spPr>
        <p:txBody>
          <a:bodyPr wrap="square" lIns="25400" tIns="25400" rIns="25400" bIns="25400" rtlCol="0" anchor="t">
            <a:normAutofit/>
          </a:bodyPr>
          <a:lstStyle/>
          <a:p>
            <a:pPr algn="l" indent="0" marL="0">
              <a:lnSpc>
                <a:spcPct val="110000"/>
              </a:lnSpc>
              <a:buNone/>
            </a:pPr>
            <a:r>
              <a:rPr lang="en-US" sz="3600" spc="-72" kern="0" dirty="0">
                <a:solidFill>
                  <a:srgbClr val="FAFAFA"/>
                </a:solidFill>
                <a:latin typeface="DM Serif Display" pitchFamily="34" charset="0"/>
                <a:ea typeface="DM Serif Display" pitchFamily="34" charset="-122"/>
                <a:cs typeface="DM Serif Display" pitchFamily="34" charset="-120"/>
              </a:rPr>
              <a:t>Living Things</a:t>
            </a:r>
            <a:endParaRPr lang="en-US" sz="3600" dirty="0"/>
          </a:p>
        </p:txBody>
      </p:sp>
      <p:sp>
        <p:nvSpPr>
          <p:cNvPr id="18" name="Text 14"/>
          <p:cNvSpPr/>
          <p:nvPr/>
        </p:nvSpPr>
        <p:spPr>
          <a:xfrm>
            <a:off x="6553200" y="8856315"/>
            <a:ext cx="5101590" cy="731341"/>
          </a:xfrm>
          <a:prstGeom prst="rect">
            <a:avLst/>
          </a:prstGeom>
          <a:noFill/>
          <a:ln/>
        </p:spPr>
        <p:txBody>
          <a:bodyPr wrap="square" lIns="25400" tIns="25400" rIns="25400" bIns="25400" rtlCol="0" anchor="t">
            <a:normAutofit/>
          </a:bodyPr>
          <a:lstStyle/>
          <a:p>
            <a:pPr algn="l" indent="0" marL="0">
              <a:lnSpc>
                <a:spcPct val="130000"/>
              </a:lnSpc>
              <a:buNone/>
            </a:pPr>
            <a:r>
              <a:rPr lang="en-US" sz="2100" dirty="0">
                <a:solidFill>
                  <a:srgbClr val="FAFAFA">
                    <a:alpha val="92000"/>
                  </a:srgbClr>
                </a:solidFill>
                <a:latin typeface="PP Neue Montreal" pitchFamily="34" charset="0"/>
                <a:ea typeface="PP Neue Montreal" pitchFamily="34" charset="-122"/>
                <a:cs typeface="PP Neue Montreal" pitchFamily="34" charset="-120"/>
              </a:rPr>
              <a:t>Compite con Linkin Park y cuatro marcas más.</a:t>
            </a:r>
            <a:endParaRPr lang="en-US" sz="2100" dirty="0"/>
          </a:p>
        </p:txBody>
      </p:sp>
      <p:sp>
        <p:nvSpPr>
          <p:cNvPr id="19" name="Shape 15"/>
          <p:cNvSpPr/>
          <p:nvPr/>
        </p:nvSpPr>
        <p:spPr>
          <a:xfrm>
            <a:off x="12192000" y="0"/>
            <a:ext cx="6096000" cy="6858000"/>
          </a:xfrm>
          <a:prstGeom prst="rect">
            <a:avLst/>
          </a:prstGeom>
          <a:solidFill>
            <a:srgbClr val="FAFAFA"/>
          </a:solidFill>
          <a:ln/>
        </p:spPr>
      </p:sp>
      <p:sp>
        <p:nvSpPr>
          <p:cNvPr id="20" name="Shape 16"/>
          <p:cNvSpPr/>
          <p:nvPr/>
        </p:nvSpPr>
        <p:spPr>
          <a:xfrm>
            <a:off x="12192000" y="0"/>
            <a:ext cx="6096000" cy="6858000"/>
          </a:xfrm>
          <a:prstGeom prst="rect">
            <a:avLst/>
          </a:prstGeom>
          <a:solidFill>
            <a:srgbClr val="FAFAFA"/>
          </a:solidFill>
          <a:ln/>
        </p:spPr>
      </p:sp>
      <p:pic>
        <p:nvPicPr>
          <p:cNvPr id="21" name="Image 2" descr="preencoded.png">    </p:cNvPr>
          <p:cNvPicPr>
            <a:picLocks noChangeAspect="1"/>
          </p:cNvPicPr>
          <p:nvPr/>
        </p:nvPicPr>
        <p:blipFill>
          <a:blip r:embed="rId3"/>
          <a:srcRect l="0" r="0" t="0" b="0"/>
          <a:stretch/>
        </p:blipFill>
        <p:spPr>
          <a:xfrm>
            <a:off x="12192000" y="0"/>
            <a:ext cx="6096000" cy="6858000"/>
          </a:xfrm>
          <a:prstGeom prst="rect">
            <a:avLst/>
          </a:prstGeom>
        </p:spPr>
      </p:pic>
      <p:sp>
        <p:nvSpPr>
          <p:cNvPr id="22" name="Shape 17"/>
          <p:cNvSpPr/>
          <p:nvPr/>
        </p:nvSpPr>
        <p:spPr>
          <a:xfrm>
            <a:off x="12192000" y="6858000"/>
            <a:ext cx="6096000" cy="3429000"/>
          </a:xfrm>
          <a:prstGeom prst="rect">
            <a:avLst/>
          </a:prstGeom>
          <a:solidFill>
            <a:srgbClr val="0A0A0A"/>
          </a:solidFill>
          <a:ln/>
        </p:spPr>
      </p:sp>
      <p:sp>
        <p:nvSpPr>
          <p:cNvPr id="23" name="Text 18"/>
          <p:cNvSpPr/>
          <p:nvPr/>
        </p:nvSpPr>
        <p:spPr>
          <a:xfrm>
            <a:off x="12649200" y="7519095"/>
            <a:ext cx="5337048" cy="586680"/>
          </a:xfrm>
          <a:prstGeom prst="rect">
            <a:avLst/>
          </a:prstGeom>
          <a:noFill/>
          <a:ln/>
        </p:spPr>
        <p:txBody>
          <a:bodyPr wrap="square" lIns="25400" tIns="25400" rIns="25400" bIns="25400" rtlCol="0" anchor="t">
            <a:normAutofit/>
          </a:bodyPr>
          <a:lstStyle/>
          <a:p>
            <a:pPr algn="l" indent="0" marL="0">
              <a:lnSpc>
                <a:spcPct val="90000"/>
              </a:lnSpc>
              <a:buNone/>
            </a:pPr>
            <a:r>
              <a:rPr lang="en-US" sz="4800" i="1" dirty="0">
                <a:solidFill>
                  <a:srgbClr val="FFD600"/>
                </a:solidFill>
                <a:latin typeface="DM Serif Display" pitchFamily="34" charset="0"/>
                <a:ea typeface="DM Serif Display" pitchFamily="34" charset="-122"/>
                <a:cs typeface="DM Serif Display" pitchFamily="34" charset="-120"/>
              </a:rPr>
              <a:t>03</a:t>
            </a:r>
            <a:endParaRPr lang="en-US" sz="4800" dirty="0"/>
          </a:p>
        </p:txBody>
      </p:sp>
      <p:sp>
        <p:nvSpPr>
          <p:cNvPr id="24" name="Text 19"/>
          <p:cNvSpPr/>
          <p:nvPr/>
        </p:nvSpPr>
        <p:spPr>
          <a:xfrm>
            <a:off x="12649200" y="8220075"/>
            <a:ext cx="5337048" cy="540990"/>
          </a:xfrm>
          <a:prstGeom prst="rect">
            <a:avLst/>
          </a:prstGeom>
          <a:noFill/>
          <a:ln/>
        </p:spPr>
        <p:txBody>
          <a:bodyPr wrap="square" lIns="25400" tIns="25400" rIns="25400" bIns="25400" rtlCol="0" anchor="t">
            <a:normAutofit/>
          </a:bodyPr>
          <a:lstStyle/>
          <a:p>
            <a:pPr algn="l" indent="0" marL="0">
              <a:lnSpc>
                <a:spcPct val="110000"/>
              </a:lnSpc>
              <a:buNone/>
            </a:pPr>
            <a:r>
              <a:rPr lang="en-US" sz="3600" spc="-72" kern="0" dirty="0">
                <a:solidFill>
                  <a:srgbClr val="FAFAFA"/>
                </a:solidFill>
                <a:latin typeface="DM Serif Display" pitchFamily="34" charset="0"/>
                <a:ea typeface="DM Serif Display" pitchFamily="34" charset="-122"/>
                <a:cs typeface="DM Serif Display" pitchFamily="34" charset="-120"/>
              </a:rPr>
              <a:t>Mango</a:t>
            </a:r>
            <a:endParaRPr lang="en-US" sz="3600" dirty="0"/>
          </a:p>
        </p:txBody>
      </p:sp>
      <p:sp>
        <p:nvSpPr>
          <p:cNvPr id="25" name="Text 20"/>
          <p:cNvSpPr/>
          <p:nvPr/>
        </p:nvSpPr>
        <p:spPr>
          <a:xfrm>
            <a:off x="12649200" y="8856315"/>
            <a:ext cx="5101590" cy="731341"/>
          </a:xfrm>
          <a:prstGeom prst="rect">
            <a:avLst/>
          </a:prstGeom>
          <a:noFill/>
          <a:ln/>
        </p:spPr>
        <p:txBody>
          <a:bodyPr wrap="square" lIns="25400" tIns="25400" rIns="25400" bIns="25400" rtlCol="0" anchor="t">
            <a:normAutofit/>
          </a:bodyPr>
          <a:lstStyle/>
          <a:p>
            <a:pPr algn="l" indent="0" marL="0">
              <a:lnSpc>
                <a:spcPct val="130000"/>
              </a:lnSpc>
              <a:buNone/>
            </a:pPr>
            <a:r>
              <a:rPr lang="en-US" sz="2100" dirty="0">
                <a:solidFill>
                  <a:srgbClr val="FAFAFA">
                    <a:alpha val="92000"/>
                  </a:srgbClr>
                </a:solidFill>
                <a:latin typeface="PP Neue Montreal" pitchFamily="34" charset="0"/>
                <a:ea typeface="PP Neue Montreal" pitchFamily="34" charset="-122"/>
                <a:cs typeface="PP Neue Montreal" pitchFamily="34" charset="-120"/>
              </a:rPr>
              <a:t>La fruta gana. Una de las mayores marcas de España no existe para la IA.</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11239500" cy="10287000"/>
          </a:xfrm>
          <a:prstGeom prst="rect">
            <a:avLst/>
          </a:prstGeom>
          <a:solidFill>
            <a:srgbClr val="FAFAFA"/>
          </a:solidFill>
          <a:ln/>
        </p:spPr>
      </p:sp>
      <p:sp>
        <p:nvSpPr>
          <p:cNvPr id="3" name="Shape 1"/>
          <p:cNvSpPr/>
          <p:nvPr/>
        </p:nvSpPr>
        <p:spPr>
          <a:xfrm>
            <a:off x="0" y="0"/>
            <a:ext cx="11239500" cy="10287000"/>
          </a:xfrm>
          <a:prstGeom prst="rect">
            <a:avLst/>
          </a:prstGeom>
          <a:solidFill>
            <a:srgbClr val="FAFAFA"/>
          </a:solidFill>
          <a:ln/>
        </p:spPr>
      </p:sp>
      <p:pic>
        <p:nvPicPr>
          <p:cNvPr id="4" name="Image 0" descr="preencoded.png">    </p:cNvPr>
          <p:cNvPicPr>
            <a:picLocks noChangeAspect="1"/>
          </p:cNvPicPr>
          <p:nvPr/>
        </p:nvPicPr>
        <p:blipFill>
          <a:blip r:embed="rId1"/>
          <a:srcRect l="0" r="0" t="0" b="0"/>
          <a:stretch/>
        </p:blipFill>
        <p:spPr>
          <a:xfrm>
            <a:off x="0" y="0"/>
            <a:ext cx="11239500" cy="10287000"/>
          </a:xfrm>
          <a:prstGeom prst="rect">
            <a:avLst/>
          </a:prstGeom>
        </p:spPr>
      </p:pic>
      <p:sp>
        <p:nvSpPr>
          <p:cNvPr id="5" name="Shape 2"/>
          <p:cNvSpPr/>
          <p:nvPr/>
        </p:nvSpPr>
        <p:spPr>
          <a:xfrm>
            <a:off x="11239500" y="0"/>
            <a:ext cx="7048500" cy="10287000"/>
          </a:xfrm>
          <a:prstGeom prst="rect">
            <a:avLst/>
          </a:prstGeom>
          <a:solidFill>
            <a:srgbClr val="0A0A0A"/>
          </a:solidFill>
          <a:ln/>
        </p:spPr>
      </p:sp>
      <p:sp>
        <p:nvSpPr>
          <p:cNvPr id="6" name="Text 3"/>
          <p:cNvSpPr/>
          <p:nvPr/>
        </p:nvSpPr>
        <p:spPr>
          <a:xfrm>
            <a:off x="12001500" y="1778794"/>
            <a:ext cx="5690235" cy="381000"/>
          </a:xfrm>
          <a:prstGeom prst="rect">
            <a:avLst/>
          </a:prstGeom>
          <a:noFill/>
          <a:ln/>
        </p:spPr>
        <p:txBody>
          <a:bodyPr wrap="square" lIns="25400" tIns="25400" rIns="25400" bIns="25400" rtlCol="0" anchor="t">
            <a:normAutofit/>
          </a:bodyPr>
          <a:lstStyle/>
          <a:p>
            <a:pPr algn="l" indent="0" marL="0">
              <a:buNone/>
            </a:pPr>
            <a:r>
              <a:rPr lang="en-US" sz="2250" spc="405" kern="0" dirty="0">
                <a:solidFill>
                  <a:srgbClr val="999999"/>
                </a:solidFill>
                <a:latin typeface="PP Neue Montreal" pitchFamily="34" charset="0"/>
                <a:ea typeface="PP Neue Montreal" pitchFamily="34" charset="-122"/>
                <a:cs typeface="PP Neue Montreal" pitchFamily="34" charset="-120"/>
              </a:rPr>
              <a:t>PERO TAMBIÉN GOOGLE</a:t>
            </a:r>
            <a:endParaRPr lang="en-US" sz="2250" dirty="0"/>
          </a:p>
        </p:txBody>
      </p:sp>
      <p:sp>
        <p:nvSpPr>
          <p:cNvPr id="7" name="Text 4"/>
          <p:cNvSpPr/>
          <p:nvPr/>
        </p:nvSpPr>
        <p:spPr>
          <a:xfrm>
            <a:off x="12001500" y="2350294"/>
            <a:ext cx="5690235" cy="2012900"/>
          </a:xfrm>
          <a:prstGeom prst="rect">
            <a:avLst/>
          </a:prstGeom>
          <a:noFill/>
          <a:ln/>
        </p:spPr>
        <p:txBody>
          <a:bodyPr wrap="square" lIns="25400" tIns="25400" rIns="25400" bIns="25400" rtlCol="0" anchor="t">
            <a:normAutofit/>
          </a:bodyPr>
          <a:lstStyle/>
          <a:p>
            <a:pPr algn="l" indent="0" marL="0">
              <a:lnSpc>
                <a:spcPct val="108000"/>
              </a:lnSpc>
              <a:buNone/>
            </a:pPr>
            <a:r>
              <a:rPr lang="en-US" sz="4800" spc="-96" kern="0" dirty="0">
                <a:solidFill>
                  <a:srgbClr val="FAFAFA"/>
                </a:solidFill>
                <a:latin typeface="DM Serif Display" pitchFamily="34" charset="0"/>
                <a:ea typeface="DM Serif Display" pitchFamily="34" charset="-122"/>
                <a:cs typeface="DM Serif Display" pitchFamily="34" charset="-120"/>
              </a:rPr>
              <a:t>Y ni siquiera los canales se ponen de </a:t>
            </a:r>
            <a:pPr algn="l" indent="0" marL="0">
              <a:lnSpc>
                <a:spcPct val="108000"/>
              </a:lnSpc>
              <a:buNone/>
            </a:pPr>
            <a:r>
              <a:rPr lang="en-US" sz="4800" i="1" spc="-96" kern="0" dirty="0">
                <a:solidFill>
                  <a:srgbClr val="FAFAFA"/>
                </a:solidFill>
                <a:latin typeface="DM Serif Display" pitchFamily="34" charset="0"/>
                <a:ea typeface="DM Serif Display" pitchFamily="34" charset="-122"/>
                <a:cs typeface="DM Serif Display" pitchFamily="34" charset="-120"/>
              </a:rPr>
              <a:t>acuerdo</a:t>
            </a:r>
            <a:pPr algn="l" indent="0" marL="0">
              <a:lnSpc>
                <a:spcPct val="108000"/>
              </a:lnSpc>
              <a:buNone/>
            </a:pPr>
            <a:r>
              <a:rPr lang="en-US" sz="4800" spc="-96" kern="0" dirty="0">
                <a:solidFill>
                  <a:srgbClr val="FAFAFA"/>
                </a:solidFill>
                <a:latin typeface="DM Serif Display" pitchFamily="34" charset="0"/>
                <a:ea typeface="DM Serif Display" pitchFamily="34" charset="-122"/>
                <a:cs typeface="DM Serif Display" pitchFamily="34" charset="-120"/>
              </a:rPr>
              <a:t>.</a:t>
            </a:r>
            <a:endParaRPr lang="en-US" sz="4800" dirty="0"/>
          </a:p>
        </p:txBody>
      </p:sp>
      <p:sp>
        <p:nvSpPr>
          <p:cNvPr id="8" name="Text 5"/>
          <p:cNvSpPr/>
          <p:nvPr/>
        </p:nvSpPr>
        <p:spPr>
          <a:xfrm>
            <a:off x="12001500" y="4629894"/>
            <a:ext cx="5690235" cy="3211413"/>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FAFAFA"/>
                </a:solidFill>
                <a:latin typeface="PP Neue Montreal" pitchFamily="34" charset="0"/>
                <a:ea typeface="PP Neue Montreal" pitchFamily="34" charset="-122"/>
                <a:cs typeface="PP Neue Montreal" pitchFamily="34" charset="-120"/>
              </a:rPr>
              <a:t>La misma marca, tres entidades distintas. Pastelería. Restaurante. Escuela. Y al lado, Albert Hofmann y Dustin Hoffman. Google no sabe quién eres. ChatGPT te conoce perfectamente. Y entre ellos no se ponen de acuerdo.</a:t>
            </a:r>
            <a:endParaRPr lang="en-US" sz="2550" dirty="0"/>
          </a:p>
        </p:txBody>
      </p:sp>
      <p:sp>
        <p:nvSpPr>
          <p:cNvPr id="9" name="Text 6"/>
          <p:cNvSpPr/>
          <p:nvPr/>
        </p:nvSpPr>
        <p:spPr>
          <a:xfrm>
            <a:off x="12001500" y="8108007"/>
            <a:ext cx="5690235"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999999"/>
                </a:solidFill>
                <a:latin typeface="PP Neue Montreal" pitchFamily="34" charset="0"/>
                <a:ea typeface="PP Neue Montreal" pitchFamily="34" charset="-122"/>
                <a:cs typeface="PP Neue Montreal" pitchFamily="34" charset="-120"/>
              </a:rPr>
              <a:t>SERP de "hoffman" — abril 2026</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1524000" y="4598343"/>
            <a:ext cx="3354663" cy="1128415"/>
          </a:xfrm>
          <a:prstGeom prst="rect">
            <a:avLst/>
          </a:prstGeom>
          <a:noFill/>
          <a:ln/>
        </p:spPr>
        <p:txBody>
          <a:bodyPr wrap="square" lIns="25400" tIns="25400" rIns="25400" bIns="25400" rtlCol="0" anchor="t">
            <a:normAutofit/>
          </a:bodyPr>
          <a:lstStyle/>
          <a:p>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El caso.</a:t>
            </a:r>
            <a:endParaRPr lang="en-US" sz="8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598807" y="2698403"/>
            <a:ext cx="3090386" cy="381000"/>
          </a:xfrm>
          <a:prstGeom prst="rect">
            <a:avLst/>
          </a:prstGeom>
          <a:noFill/>
          <a:ln/>
        </p:spPr>
        <p:txBody>
          <a:bodyPr wrap="square" lIns="25400" tIns="25400" rIns="25400" bIns="25400" rtlCol="0" anchor="t">
            <a:normAutofit/>
          </a:bodyPr>
          <a:lstStyle/>
          <a:p>
            <a:pPr algn="ctr" indent="0" marL="0">
              <a:buNone/>
            </a:pPr>
            <a:r>
              <a:rPr lang="en-US" sz="2250" spc="405" kern="0" dirty="0">
                <a:solidFill>
                  <a:srgbClr val="999999"/>
                </a:solidFill>
                <a:latin typeface="PP Neue Montreal" pitchFamily="34" charset="0"/>
                <a:ea typeface="PP Neue Montreal" pitchFamily="34" charset="-122"/>
                <a:cs typeface="PP Neue Montreal" pitchFamily="34" charset="-120"/>
              </a:rPr>
              <a:t>BLOG VS. TIENDA</a:t>
            </a:r>
            <a:endParaRPr lang="en-US" sz="2250" dirty="0"/>
          </a:p>
        </p:txBody>
      </p:sp>
      <p:sp>
        <p:nvSpPr>
          <p:cNvPr id="3" name="Text 1"/>
          <p:cNvSpPr/>
          <p:nvPr/>
        </p:nvSpPr>
        <p:spPr>
          <a:xfrm>
            <a:off x="7667331" y="3269903"/>
            <a:ext cx="2953189" cy="2438400"/>
          </a:xfrm>
          <a:prstGeom prst="rect">
            <a:avLst/>
          </a:prstGeom>
          <a:noFill/>
          <a:ln/>
        </p:spPr>
        <p:txBody>
          <a:bodyPr wrap="square" lIns="25400" tIns="25400" rIns="25400" bIns="25400" rtlCol="0" anchor="t">
            <a:normAutofit/>
          </a:bodyPr>
          <a:lstStyle/>
          <a:p>
            <a:pPr algn="ctr" indent="0" marL="0">
              <a:lnSpc>
                <a:spcPct val="90000"/>
              </a:lnSpc>
              <a:buNone/>
            </a:pPr>
            <a:r>
              <a:rPr lang="en-US" sz="21000" i="1" spc="-840" kern="0" dirty="0">
                <a:solidFill>
                  <a:srgbClr val="FFD600"/>
                </a:solidFill>
                <a:latin typeface="DM Serif Display" pitchFamily="34" charset="0"/>
                <a:ea typeface="DM Serif Display" pitchFamily="34" charset="-122"/>
                <a:cs typeface="DM Serif Display" pitchFamily="34" charset="-120"/>
              </a:rPr>
              <a:t>8:1</a:t>
            </a:r>
            <a:endParaRPr lang="en-US" sz="21000" dirty="0"/>
          </a:p>
        </p:txBody>
      </p:sp>
      <p:sp>
        <p:nvSpPr>
          <p:cNvPr id="4" name="Text 2"/>
          <p:cNvSpPr/>
          <p:nvPr/>
        </p:nvSpPr>
        <p:spPr>
          <a:xfrm>
            <a:off x="5459757" y="5975003"/>
            <a:ext cx="7368486" cy="708571"/>
          </a:xfrm>
          <a:prstGeom prst="rect">
            <a:avLst/>
          </a:prstGeom>
          <a:noFill/>
          <a:ln/>
        </p:spPr>
        <p:txBody>
          <a:bodyPr wrap="square" lIns="25400" tIns="25400" rIns="25400" bIns="25400" rtlCol="0" anchor="t">
            <a:normAutofit/>
          </a:bodyPr>
          <a:lstStyle/>
          <a:p>
            <a:pPr algn="ctr" indent="0" marL="0">
              <a:lnSpc>
                <a:spcPct val="110000"/>
              </a:lnSpc>
              <a:buNone/>
            </a:pPr>
            <a:r>
              <a:rPr lang="en-US" sz="4800" spc="-96" kern="0" dirty="0">
                <a:solidFill>
                  <a:srgbClr val="FAFAFA"/>
                </a:solidFill>
                <a:latin typeface="DM Serif Display" pitchFamily="34" charset="0"/>
                <a:ea typeface="DM Serif Display" pitchFamily="34" charset="-122"/>
                <a:cs typeface="DM Serif Display" pitchFamily="34" charset="-120"/>
              </a:rPr>
              <a:t>Ratio de sesiones </a:t>
            </a:r>
            <a:pPr algn="ctr" indent="0" marL="0">
              <a:lnSpc>
                <a:spcPct val="110000"/>
              </a:lnSpc>
              <a:buNone/>
            </a:pPr>
            <a:r>
              <a:rPr lang="en-US" sz="4800" i="1" spc="-96" kern="0" dirty="0">
                <a:solidFill>
                  <a:srgbClr val="FAFAFA"/>
                </a:solidFill>
                <a:latin typeface="DM Serif Display" pitchFamily="34" charset="0"/>
                <a:ea typeface="DM Serif Display" pitchFamily="34" charset="-122"/>
                <a:cs typeface="DM Serif Display" pitchFamily="34" charset="-120"/>
              </a:rPr>
              <a:t>orgánicas</a:t>
            </a:r>
            <a:pPr algn="ctr" indent="0" marL="0">
              <a:lnSpc>
                <a:spcPct val="110000"/>
              </a:lnSpc>
              <a:buNone/>
            </a:pPr>
            <a:r>
              <a:rPr lang="en-US" sz="4800" spc="-96" kern="0" dirty="0">
                <a:solidFill>
                  <a:srgbClr val="FAFAFA"/>
                </a:solidFill>
                <a:latin typeface="DM Serif Display" pitchFamily="34" charset="0"/>
                <a:ea typeface="DM Serif Display" pitchFamily="34" charset="-122"/>
                <a:cs typeface="DM Serif Display" pitchFamily="34" charset="-120"/>
              </a:rPr>
              <a:t>.</a:t>
            </a:r>
            <a:endParaRPr lang="en-US" sz="4800" dirty="0"/>
          </a:p>
        </p:txBody>
      </p:sp>
      <p:sp>
        <p:nvSpPr>
          <p:cNvPr id="5" name="Text 3"/>
          <p:cNvSpPr/>
          <p:nvPr/>
        </p:nvSpPr>
        <p:spPr>
          <a:xfrm>
            <a:off x="6118765" y="7102673"/>
            <a:ext cx="6050320" cy="523875"/>
          </a:xfrm>
          <a:prstGeom prst="rect">
            <a:avLst/>
          </a:prstGeom>
          <a:noFill/>
          <a:ln/>
        </p:spPr>
        <p:txBody>
          <a:bodyPr wrap="square" lIns="25400" tIns="25400" rIns="25400" bIns="25400" rtlCol="0" anchor="t">
            <a:normAutofit/>
          </a:bodyPr>
          <a:lstStyle/>
          <a:p>
            <a:pPr algn="ctr" indent="0" marL="0">
              <a:lnSpc>
                <a:spcPct val="150000"/>
              </a:lnSpc>
              <a:buNone/>
            </a:pPr>
            <a:r>
              <a:rPr lang="en-US" sz="2550" dirty="0">
                <a:solidFill>
                  <a:srgbClr val="999999"/>
                </a:solidFill>
                <a:latin typeface="PP Neue Montreal" pitchFamily="34" charset="0"/>
                <a:ea typeface="PP Neue Montreal" pitchFamily="34" charset="-122"/>
                <a:cs typeface="PP Neue Montreal" pitchFamily="34" charset="-120"/>
              </a:rPr>
              <a:t>Cliente health &amp; wellness. Auditoría Magnify.</a:t>
            </a:r>
            <a:endParaRPr lang="en-US" sz="2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1524000" y="2962870"/>
            <a:ext cx="15697200" cy="4399359"/>
          </a:xfrm>
          <a:prstGeom prst="rect">
            <a:avLst/>
          </a:prstGeom>
          <a:noFill/>
          <a:ln/>
        </p:spPr>
        <p:txBody>
          <a:bodyPr wrap="square" lIns="25400" tIns="25400" rIns="25400" bIns="25400" rtlCol="0" anchor="t">
            <a:normAutofit/>
          </a:bodyPr>
          <a:lstStyle/>
          <a:p>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Un tomate, botánicamente, es una fruta. Nadie lo busca en el pasillo de </a:t>
            </a:r>
            <a:pPr algn="l" indent="0" marL="0">
              <a:lnSpc>
                <a:spcPct val="106000"/>
              </a:lnSpc>
              <a:buNone/>
            </a:pPr>
            <a:r>
              <a:rPr lang="en-US" sz="8100" i="1" spc="-162" kern="0" dirty="0">
                <a:solidFill>
                  <a:srgbClr val="0A0A0A"/>
                </a:solidFill>
                <a:latin typeface="DM Serif Display" pitchFamily="34" charset="0"/>
                <a:ea typeface="DM Serif Display" pitchFamily="34" charset="-122"/>
                <a:cs typeface="DM Serif Display" pitchFamily="34" charset="-120"/>
              </a:rPr>
              <a:t>fruta</a:t>
            </a:r>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a:t>
            </a:r>
            <a:endParaRPr lang="en-US" sz="8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1524000" y="2571601"/>
            <a:ext cx="15697200" cy="860971"/>
          </a:xfrm>
          <a:prstGeom prst="rect">
            <a:avLst/>
          </a:prstGeom>
          <a:noFill/>
          <a:ln/>
        </p:spPr>
        <p:txBody>
          <a:bodyPr wrap="square" lIns="25400" tIns="25400" rIns="25400" bIns="25400" rtlCol="0" anchor="t">
            <a:normAutofit/>
          </a:bodyPr>
          <a:lstStyle/>
          <a:p>
            <a:pPr algn="l" indent="0" marL="0">
              <a:lnSpc>
                <a:spcPct val="108000"/>
              </a:lnSpc>
              <a:buNone/>
            </a:pPr>
            <a:r>
              <a:rPr lang="en-US" sz="6000" spc="-120" kern="0" dirty="0">
                <a:solidFill>
                  <a:srgbClr val="0A0A0A"/>
                </a:solidFill>
                <a:latin typeface="DM Serif Display" pitchFamily="34" charset="0"/>
                <a:ea typeface="DM Serif Display" pitchFamily="34" charset="-122"/>
                <a:cs typeface="DM Serif Display" pitchFamily="34" charset="-120"/>
              </a:rPr>
              <a:t>Preguntamos a los </a:t>
            </a:r>
            <a:pPr algn="l" indent="0" marL="0">
              <a:lnSpc>
                <a:spcPct val="108000"/>
              </a:lnSpc>
              <a:buNone/>
            </a:pPr>
            <a:r>
              <a:rPr lang="en-US" sz="6000" i="1" spc="-120" kern="0" dirty="0">
                <a:solidFill>
                  <a:srgbClr val="0A0A0A"/>
                </a:solidFill>
                <a:latin typeface="DM Serif Display" pitchFamily="34" charset="0"/>
                <a:ea typeface="DM Serif Display" pitchFamily="34" charset="-122"/>
                <a:cs typeface="DM Serif Display" pitchFamily="34" charset="-120"/>
              </a:rPr>
              <a:t>clientes</a:t>
            </a:r>
            <a:pPr algn="l" indent="0" marL="0">
              <a:lnSpc>
                <a:spcPct val="108000"/>
              </a:lnSpc>
              <a:buNone/>
            </a:pPr>
            <a:r>
              <a:rPr lang="en-US" sz="6000" spc="-120" kern="0" dirty="0">
                <a:solidFill>
                  <a:srgbClr val="0A0A0A"/>
                </a:solidFill>
                <a:latin typeface="DM Serif Display" pitchFamily="34" charset="0"/>
                <a:ea typeface="DM Serif Display" pitchFamily="34" charset="-122"/>
                <a:cs typeface="DM Serif Display" pitchFamily="34" charset="-120"/>
              </a:rPr>
              <a:t>.</a:t>
            </a:r>
            <a:endParaRPr lang="en-US" sz="6000" dirty="0"/>
          </a:p>
        </p:txBody>
      </p:sp>
      <p:sp>
        <p:nvSpPr>
          <p:cNvPr id="3" name="Shape 1"/>
          <p:cNvSpPr/>
          <p:nvPr/>
        </p:nvSpPr>
        <p:spPr>
          <a:xfrm>
            <a:off x="1524000" y="4156472"/>
            <a:ext cx="28575" cy="1474589"/>
          </a:xfrm>
          <a:prstGeom prst="rect">
            <a:avLst/>
          </a:prstGeom>
          <a:solidFill>
            <a:srgbClr val="0A0A0A"/>
          </a:solidFill>
          <a:ln/>
        </p:spPr>
      </p:sp>
      <p:sp>
        <p:nvSpPr>
          <p:cNvPr id="4" name="Text 2"/>
          <p:cNvSpPr/>
          <p:nvPr/>
        </p:nvSpPr>
        <p:spPr>
          <a:xfrm>
            <a:off x="1857375" y="4156472"/>
            <a:ext cx="7034308" cy="1026914"/>
          </a:xfrm>
          <a:prstGeom prst="rect">
            <a:avLst/>
          </a:prstGeom>
          <a:noFill/>
          <a:ln/>
        </p:spPr>
        <p:txBody>
          <a:bodyPr wrap="square" lIns="25400" tIns="25400" rIns="25400" bIns="25400" rtlCol="0" anchor="t">
            <a:normAutofit/>
          </a:bodyPr>
          <a:lstStyle/>
          <a:p>
            <a:pPr algn="l" indent="0" marL="0">
              <a:lnSpc>
                <a:spcPct val="118000"/>
              </a:lnSpc>
              <a:buNone/>
            </a:pPr>
            <a:r>
              <a:rPr lang="en-US" sz="3300" i="1" spc="-33" kern="0" dirty="0">
                <a:solidFill>
                  <a:srgbClr val="0A0A0A"/>
                </a:solidFill>
                <a:latin typeface="DM Serif Display" pitchFamily="34" charset="0"/>
                <a:ea typeface="DM Serif Display" pitchFamily="34" charset="-122"/>
                <a:cs typeface="DM Serif Display" pitchFamily="34" charset="-120"/>
              </a:rPr>
              <a:t>¿Cómo duermo mejor de forma natural?</a:t>
            </a:r>
            <a:endParaRPr lang="en-US" sz="3300" dirty="0"/>
          </a:p>
        </p:txBody>
      </p:sp>
      <p:sp>
        <p:nvSpPr>
          <p:cNvPr id="5" name="Text 3"/>
          <p:cNvSpPr/>
          <p:nvPr/>
        </p:nvSpPr>
        <p:spPr>
          <a:xfrm>
            <a:off x="1857375" y="5335786"/>
            <a:ext cx="7034308" cy="333375"/>
          </a:xfrm>
          <a:prstGeom prst="rect">
            <a:avLst/>
          </a:prstGeom>
          <a:noFill/>
          <a:ln/>
        </p:spPr>
        <p:txBody>
          <a:bodyPr wrap="square" lIns="25400" tIns="25400" rIns="25400" bIns="25400" rtlCol="0" anchor="t">
            <a:normAutofit/>
          </a:bodyPr>
          <a:lstStyle/>
          <a:p>
            <a:pPr algn="l" indent="0" marL="0">
              <a:buNone/>
            </a:pPr>
            <a:r>
              <a:rPr lang="en-US" sz="1950" spc="195" kern="0" dirty="0">
                <a:solidFill>
                  <a:srgbClr val="666666"/>
                </a:solidFill>
                <a:latin typeface="PP Neue Montreal" pitchFamily="34" charset="0"/>
                <a:ea typeface="PP Neue Montreal" pitchFamily="34" charset="-122"/>
                <a:cs typeface="PP Neue Montreal" pitchFamily="34" charset="-120"/>
              </a:rPr>
              <a:t>CLIENTE H&amp;W</a:t>
            </a:r>
            <a:endParaRPr lang="en-US" sz="1950" dirty="0"/>
          </a:p>
        </p:txBody>
      </p:sp>
      <p:sp>
        <p:nvSpPr>
          <p:cNvPr id="6" name="Shape 4"/>
          <p:cNvSpPr/>
          <p:nvPr/>
        </p:nvSpPr>
        <p:spPr>
          <a:xfrm>
            <a:off x="9601200" y="4156472"/>
            <a:ext cx="28575" cy="1474589"/>
          </a:xfrm>
          <a:prstGeom prst="rect">
            <a:avLst/>
          </a:prstGeom>
          <a:solidFill>
            <a:srgbClr val="0A0A0A"/>
          </a:solidFill>
          <a:ln/>
        </p:spPr>
      </p:sp>
      <p:sp>
        <p:nvSpPr>
          <p:cNvPr id="7" name="Text 5"/>
          <p:cNvSpPr/>
          <p:nvPr/>
        </p:nvSpPr>
        <p:spPr>
          <a:xfrm>
            <a:off x="9934575" y="4156472"/>
            <a:ext cx="7034308" cy="1026914"/>
          </a:xfrm>
          <a:prstGeom prst="rect">
            <a:avLst/>
          </a:prstGeom>
          <a:noFill/>
          <a:ln/>
        </p:spPr>
        <p:txBody>
          <a:bodyPr wrap="square" lIns="25400" tIns="25400" rIns="25400" bIns="25400" rtlCol="0" anchor="t">
            <a:normAutofit/>
          </a:bodyPr>
          <a:lstStyle/>
          <a:p>
            <a:pPr algn="l" indent="0" marL="0">
              <a:lnSpc>
                <a:spcPct val="118000"/>
              </a:lnSpc>
              <a:buNone/>
            </a:pPr>
            <a:r>
              <a:rPr lang="en-US" sz="3300" i="1" spc="-33" kern="0" dirty="0">
                <a:solidFill>
                  <a:srgbClr val="0A0A0A"/>
                </a:solidFill>
                <a:latin typeface="DM Serif Display" pitchFamily="34" charset="0"/>
                <a:ea typeface="DM Serif Display" pitchFamily="34" charset="-122"/>
                <a:cs typeface="DM Serif Display" pitchFamily="34" charset="-120"/>
              </a:rPr>
              <a:t>¿Qué debería tomar para la inflamación?</a:t>
            </a:r>
            <a:endParaRPr lang="en-US" sz="3300" dirty="0"/>
          </a:p>
        </p:txBody>
      </p:sp>
      <p:sp>
        <p:nvSpPr>
          <p:cNvPr id="8" name="Text 6"/>
          <p:cNvSpPr/>
          <p:nvPr/>
        </p:nvSpPr>
        <p:spPr>
          <a:xfrm>
            <a:off x="9934575" y="5335786"/>
            <a:ext cx="7034308" cy="333375"/>
          </a:xfrm>
          <a:prstGeom prst="rect">
            <a:avLst/>
          </a:prstGeom>
          <a:noFill/>
          <a:ln/>
        </p:spPr>
        <p:txBody>
          <a:bodyPr wrap="square" lIns="25400" tIns="25400" rIns="25400" bIns="25400" rtlCol="0" anchor="t">
            <a:normAutofit/>
          </a:bodyPr>
          <a:lstStyle/>
          <a:p>
            <a:pPr algn="l" indent="0" marL="0">
              <a:buNone/>
            </a:pPr>
            <a:r>
              <a:rPr lang="en-US" sz="1950" spc="195" kern="0" dirty="0">
                <a:solidFill>
                  <a:srgbClr val="666666"/>
                </a:solidFill>
                <a:latin typeface="PP Neue Montreal" pitchFamily="34" charset="0"/>
                <a:ea typeface="PP Neue Montreal" pitchFamily="34" charset="-122"/>
                <a:cs typeface="PP Neue Montreal" pitchFamily="34" charset="-120"/>
              </a:rPr>
              <a:t>CLIENTE H&amp;W</a:t>
            </a:r>
            <a:endParaRPr lang="en-US" sz="1950" dirty="0"/>
          </a:p>
        </p:txBody>
      </p:sp>
      <p:sp>
        <p:nvSpPr>
          <p:cNvPr id="9" name="Shape 7"/>
          <p:cNvSpPr/>
          <p:nvPr/>
        </p:nvSpPr>
        <p:spPr>
          <a:xfrm>
            <a:off x="1524000" y="6240661"/>
            <a:ext cx="28575" cy="1474589"/>
          </a:xfrm>
          <a:prstGeom prst="rect">
            <a:avLst/>
          </a:prstGeom>
          <a:solidFill>
            <a:srgbClr val="0A0A0A"/>
          </a:solidFill>
          <a:ln/>
        </p:spPr>
      </p:sp>
      <p:sp>
        <p:nvSpPr>
          <p:cNvPr id="10" name="Text 8"/>
          <p:cNvSpPr/>
          <p:nvPr/>
        </p:nvSpPr>
        <p:spPr>
          <a:xfrm>
            <a:off x="1857375" y="6240661"/>
            <a:ext cx="7034308" cy="1026914"/>
          </a:xfrm>
          <a:prstGeom prst="rect">
            <a:avLst/>
          </a:prstGeom>
          <a:noFill/>
          <a:ln/>
        </p:spPr>
        <p:txBody>
          <a:bodyPr wrap="square" lIns="25400" tIns="25400" rIns="25400" bIns="25400" rtlCol="0" anchor="t">
            <a:normAutofit/>
          </a:bodyPr>
          <a:lstStyle/>
          <a:p>
            <a:pPr algn="l" indent="0" marL="0">
              <a:lnSpc>
                <a:spcPct val="118000"/>
              </a:lnSpc>
              <a:buNone/>
            </a:pPr>
            <a:r>
              <a:rPr lang="en-US" sz="3300" i="1" spc="-33" kern="0" dirty="0">
                <a:solidFill>
                  <a:srgbClr val="0A0A0A"/>
                </a:solidFill>
                <a:latin typeface="DM Serif Display" pitchFamily="34" charset="0"/>
                <a:ea typeface="DM Serif Display" pitchFamily="34" charset="-122"/>
                <a:cs typeface="DM Serif Display" pitchFamily="34" charset="-120"/>
              </a:rPr>
              <a:t>Quiero una rutina sencilla, no cinco suplementos.</a:t>
            </a:r>
            <a:endParaRPr lang="en-US" sz="3300" dirty="0"/>
          </a:p>
        </p:txBody>
      </p:sp>
      <p:sp>
        <p:nvSpPr>
          <p:cNvPr id="11" name="Text 9"/>
          <p:cNvSpPr/>
          <p:nvPr/>
        </p:nvSpPr>
        <p:spPr>
          <a:xfrm>
            <a:off x="1857375" y="7419975"/>
            <a:ext cx="7034308" cy="333375"/>
          </a:xfrm>
          <a:prstGeom prst="rect">
            <a:avLst/>
          </a:prstGeom>
          <a:noFill/>
          <a:ln/>
        </p:spPr>
        <p:txBody>
          <a:bodyPr wrap="square" lIns="25400" tIns="25400" rIns="25400" bIns="25400" rtlCol="0" anchor="t">
            <a:normAutofit/>
          </a:bodyPr>
          <a:lstStyle/>
          <a:p>
            <a:pPr algn="l" indent="0" marL="0">
              <a:buNone/>
            </a:pPr>
            <a:r>
              <a:rPr lang="en-US" sz="1950" spc="195" kern="0" dirty="0">
                <a:solidFill>
                  <a:srgbClr val="666666"/>
                </a:solidFill>
                <a:latin typeface="PP Neue Montreal" pitchFamily="34" charset="0"/>
                <a:ea typeface="PP Neue Montreal" pitchFamily="34" charset="-122"/>
                <a:cs typeface="PP Neue Montreal" pitchFamily="34" charset="-120"/>
              </a:rPr>
              <a:t>CLIENTE H&amp;W</a:t>
            </a:r>
            <a:endParaRPr lang="en-US" sz="1950" dirty="0"/>
          </a:p>
        </p:txBody>
      </p:sp>
      <p:sp>
        <p:nvSpPr>
          <p:cNvPr id="12" name="Shape 10"/>
          <p:cNvSpPr/>
          <p:nvPr/>
        </p:nvSpPr>
        <p:spPr>
          <a:xfrm>
            <a:off x="9601200" y="6240661"/>
            <a:ext cx="28575" cy="1474589"/>
          </a:xfrm>
          <a:prstGeom prst="rect">
            <a:avLst/>
          </a:prstGeom>
          <a:solidFill>
            <a:srgbClr val="0A0A0A"/>
          </a:solidFill>
          <a:ln/>
        </p:spPr>
      </p:sp>
      <p:sp>
        <p:nvSpPr>
          <p:cNvPr id="13" name="Text 11"/>
          <p:cNvSpPr/>
          <p:nvPr/>
        </p:nvSpPr>
        <p:spPr>
          <a:xfrm>
            <a:off x="9934575" y="6240661"/>
            <a:ext cx="7034308" cy="1026914"/>
          </a:xfrm>
          <a:prstGeom prst="rect">
            <a:avLst/>
          </a:prstGeom>
          <a:noFill/>
          <a:ln/>
        </p:spPr>
        <p:txBody>
          <a:bodyPr wrap="square" lIns="25400" tIns="25400" rIns="25400" bIns="25400" rtlCol="0" anchor="t">
            <a:normAutofit/>
          </a:bodyPr>
          <a:lstStyle/>
          <a:p>
            <a:pPr algn="l" indent="0" marL="0">
              <a:lnSpc>
                <a:spcPct val="118000"/>
              </a:lnSpc>
              <a:buNone/>
            </a:pPr>
            <a:r>
              <a:rPr lang="en-US" sz="3300" i="1" spc="-33" kern="0" dirty="0">
                <a:solidFill>
                  <a:srgbClr val="0A0A0A"/>
                </a:solidFill>
                <a:latin typeface="DM Serif Display" pitchFamily="34" charset="0"/>
                <a:ea typeface="DM Serif Display" pitchFamily="34" charset="-122"/>
                <a:cs typeface="DM Serif Display" pitchFamily="34" charset="-120"/>
              </a:rPr>
              <a:t>Tengo más de 40 y no sé por dónde empezar.</a:t>
            </a:r>
            <a:endParaRPr lang="en-US" sz="3300" dirty="0"/>
          </a:p>
        </p:txBody>
      </p:sp>
      <p:sp>
        <p:nvSpPr>
          <p:cNvPr id="14" name="Text 12"/>
          <p:cNvSpPr/>
          <p:nvPr/>
        </p:nvSpPr>
        <p:spPr>
          <a:xfrm>
            <a:off x="9934575" y="7419975"/>
            <a:ext cx="7034308" cy="333375"/>
          </a:xfrm>
          <a:prstGeom prst="rect">
            <a:avLst/>
          </a:prstGeom>
          <a:noFill/>
          <a:ln/>
        </p:spPr>
        <p:txBody>
          <a:bodyPr wrap="square" lIns="25400" tIns="25400" rIns="25400" bIns="25400" rtlCol="0" anchor="t">
            <a:normAutofit/>
          </a:bodyPr>
          <a:lstStyle/>
          <a:p>
            <a:pPr algn="l" indent="0" marL="0">
              <a:buNone/>
            </a:pPr>
            <a:r>
              <a:rPr lang="en-US" sz="1950" spc="195" kern="0" dirty="0">
                <a:solidFill>
                  <a:srgbClr val="666666"/>
                </a:solidFill>
                <a:latin typeface="PP Neue Montreal" pitchFamily="34" charset="0"/>
                <a:ea typeface="PP Neue Montreal" pitchFamily="34" charset="-122"/>
                <a:cs typeface="PP Neue Montreal" pitchFamily="34" charset="-120"/>
              </a:rPr>
              <a:t>CLIENTE H&amp;W</a:t>
            </a:r>
            <a:endParaRPr lang="en-US" sz="1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1524000" y="2442418"/>
            <a:ext cx="14716125" cy="778669"/>
          </a:xfrm>
          <a:prstGeom prst="rect">
            <a:avLst/>
          </a:prstGeom>
          <a:noFill/>
          <a:ln/>
        </p:spPr>
        <p:txBody>
          <a:bodyPr wrap="square" lIns="25400" tIns="25400" rIns="25400" bIns="25400" rtlCol="0" anchor="t">
            <a:normAutofit/>
          </a:bodyPr>
          <a:lstStyle/>
          <a:p>
            <a:pPr algn="l" indent="0" marL="0">
              <a:lnSpc>
                <a:spcPct val="108000"/>
              </a:lnSpc>
              <a:buNone/>
            </a:pPr>
            <a:r>
              <a:rPr lang="en-US" sz="5400" spc="-108" kern="0" dirty="0">
                <a:solidFill>
                  <a:srgbClr val="0A0A0A"/>
                </a:solidFill>
                <a:latin typeface="DM Serif Display" pitchFamily="34" charset="0"/>
                <a:ea typeface="DM Serif Display" pitchFamily="34" charset="-122"/>
                <a:cs typeface="DM Serif Display" pitchFamily="34" charset="-120"/>
              </a:rPr>
              <a:t>Cómo estaba </a:t>
            </a:r>
            <a:pPr algn="l" indent="0" marL="0">
              <a:lnSpc>
                <a:spcPct val="108000"/>
              </a:lnSpc>
              <a:buNone/>
            </a:pPr>
            <a:r>
              <a:rPr lang="en-US" sz="5400" i="1" spc="-108" kern="0" dirty="0">
                <a:solidFill>
                  <a:srgbClr val="0A0A0A"/>
                </a:solidFill>
                <a:latin typeface="DM Serif Display" pitchFamily="34" charset="0"/>
                <a:ea typeface="DM Serif Display" pitchFamily="34" charset="-122"/>
                <a:cs typeface="DM Serif Display" pitchFamily="34" charset="-120"/>
              </a:rPr>
              <a:t>organizada</a:t>
            </a:r>
            <a:pPr algn="l" indent="0" marL="0">
              <a:lnSpc>
                <a:spcPct val="108000"/>
              </a:lnSpc>
              <a:buNone/>
            </a:pPr>
            <a:r>
              <a:rPr lang="en-US" sz="5400" spc="-108" kern="0" dirty="0">
                <a:solidFill>
                  <a:srgbClr val="0A0A0A"/>
                </a:solidFill>
                <a:latin typeface="DM Serif Display" pitchFamily="34" charset="0"/>
                <a:ea typeface="DM Serif Display" pitchFamily="34" charset="-122"/>
                <a:cs typeface="DM Serif Display" pitchFamily="34" charset="-120"/>
              </a:rPr>
              <a:t>.</a:t>
            </a:r>
            <a:endParaRPr lang="en-US" sz="5400" dirty="0"/>
          </a:p>
        </p:txBody>
      </p:sp>
      <p:sp>
        <p:nvSpPr>
          <p:cNvPr id="3" name="Text 1"/>
          <p:cNvSpPr/>
          <p:nvPr/>
        </p:nvSpPr>
        <p:spPr>
          <a:xfrm>
            <a:off x="1524000" y="4097387"/>
            <a:ext cx="7058835" cy="428625"/>
          </a:xfrm>
          <a:prstGeom prst="rect">
            <a:avLst/>
          </a:prstGeom>
          <a:noFill/>
          <a:ln/>
        </p:spPr>
        <p:txBody>
          <a:bodyPr wrap="square" lIns="25400" tIns="25400" rIns="25400" bIns="25400" rtlCol="0" anchor="t">
            <a:normAutofit/>
          </a:bodyPr>
          <a:lstStyle/>
          <a:p>
            <a:pPr algn="l" indent="0" marL="0">
              <a:buNone/>
            </a:pPr>
            <a:r>
              <a:rPr lang="en-US" sz="2550" spc="383" kern="0" dirty="0">
                <a:solidFill>
                  <a:srgbClr val="444444"/>
                </a:solidFill>
                <a:latin typeface="PP Neue Montreal" pitchFamily="34" charset="0"/>
                <a:ea typeface="PP Neue Montreal" pitchFamily="34" charset="-122"/>
                <a:cs typeface="PP Neue Montreal" pitchFamily="34" charset="-120"/>
              </a:rPr>
              <a:t>ALMACÉN</a:t>
            </a:r>
            <a:endParaRPr lang="en-US" sz="2550" dirty="0"/>
          </a:p>
        </p:txBody>
      </p:sp>
      <p:sp>
        <p:nvSpPr>
          <p:cNvPr id="4" name="Text 2"/>
          <p:cNvSpPr/>
          <p:nvPr/>
        </p:nvSpPr>
        <p:spPr>
          <a:xfrm>
            <a:off x="1310640" y="4945112"/>
            <a:ext cx="7142798" cy="2937421"/>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0A0A0A"/>
                </a:solidFill>
                <a:latin typeface="PP Neue Montreal" pitchFamily="34" charset="0"/>
                <a:ea typeface="PP Neue Montreal" pitchFamily="34" charset="-122"/>
                <a:cs typeface="PP Neue Montreal" pitchFamily="34" charset="-120"/>
              </a:rPr>
              <a:t>Supplements</a:t>
            </a:r>
            <a:endParaRPr lang="en-US" sz="2400" dirty="0"/>
          </a:p>
          <a:p>
            <a:pPr algn="l" indent="0" marL="0">
              <a:lnSpc>
                <a:spcPct val="140000"/>
              </a:lnSpc>
              <a:buNone/>
            </a:pPr>
            <a:r>
              <a:rPr lang="en-US" sz="2400" dirty="0">
                <a:solidFill>
                  <a:srgbClr val="0A0A0A"/>
                </a:solidFill>
                <a:latin typeface="PP Neue Montreal" pitchFamily="34" charset="0"/>
                <a:ea typeface="PP Neue Montreal" pitchFamily="34" charset="-122"/>
                <a:cs typeface="PP Neue Montreal" pitchFamily="34" charset="-120"/>
              </a:rPr>
              <a:t>Food</a:t>
            </a:r>
            <a:endParaRPr lang="en-US" sz="2400" dirty="0"/>
          </a:p>
          <a:p>
            <a:pPr algn="l" indent="0" marL="0">
              <a:lnSpc>
                <a:spcPct val="140000"/>
              </a:lnSpc>
              <a:buNone/>
            </a:pPr>
            <a:r>
              <a:rPr lang="en-US" sz="2400" dirty="0">
                <a:solidFill>
                  <a:srgbClr val="0A0A0A"/>
                </a:solidFill>
                <a:latin typeface="PP Neue Montreal" pitchFamily="34" charset="0"/>
                <a:ea typeface="PP Neue Montreal" pitchFamily="34" charset="-122"/>
                <a:cs typeface="PP Neue Montreal" pitchFamily="34" charset="-120"/>
              </a:rPr>
              <a:t>Cosmetics</a:t>
            </a:r>
            <a:endParaRPr lang="en-US" sz="2400" dirty="0"/>
          </a:p>
        </p:txBody>
      </p:sp>
      <p:sp>
        <p:nvSpPr>
          <p:cNvPr id="5" name="Shape 3"/>
          <p:cNvSpPr/>
          <p:nvPr/>
        </p:nvSpPr>
        <p:spPr>
          <a:xfrm>
            <a:off x="9139238" y="4097387"/>
            <a:ext cx="9525" cy="3747046"/>
          </a:xfrm>
          <a:prstGeom prst="rect">
            <a:avLst/>
          </a:prstGeom>
          <a:solidFill>
            <a:srgbClr val="000000">
              <a:alpha val="15000"/>
            </a:srgbClr>
          </a:solidFill>
          <a:ln/>
        </p:spPr>
      </p:sp>
      <p:sp>
        <p:nvSpPr>
          <p:cNvPr id="6" name="Text 4"/>
          <p:cNvSpPr/>
          <p:nvPr/>
        </p:nvSpPr>
        <p:spPr>
          <a:xfrm>
            <a:off x="9910763" y="4097387"/>
            <a:ext cx="7058835" cy="428625"/>
          </a:xfrm>
          <a:prstGeom prst="rect">
            <a:avLst/>
          </a:prstGeom>
          <a:noFill/>
          <a:ln/>
        </p:spPr>
        <p:txBody>
          <a:bodyPr wrap="square" lIns="25400" tIns="25400" rIns="25400" bIns="25400" rtlCol="0" anchor="t">
            <a:normAutofit/>
          </a:bodyPr>
          <a:lstStyle/>
          <a:p>
            <a:pPr algn="l" indent="0" marL="0">
              <a:buNone/>
            </a:pPr>
            <a:r>
              <a:rPr lang="en-US" sz="2550" spc="383" kern="0" dirty="0">
                <a:solidFill>
                  <a:srgbClr val="0A0A0A"/>
                </a:solidFill>
                <a:latin typeface="PP Neue Montreal" pitchFamily="34" charset="0"/>
                <a:ea typeface="PP Neue Montreal" pitchFamily="34" charset="-122"/>
                <a:cs typeface="PP Neue Montreal" pitchFamily="34" charset="-120"/>
              </a:rPr>
              <a:t>PROBLEMA DEL COMPRADOR</a:t>
            </a:r>
            <a:endParaRPr lang="en-US" sz="2550" dirty="0"/>
          </a:p>
        </p:txBody>
      </p:sp>
      <p:sp>
        <p:nvSpPr>
          <p:cNvPr id="7" name="Text 5"/>
          <p:cNvSpPr/>
          <p:nvPr/>
        </p:nvSpPr>
        <p:spPr>
          <a:xfrm>
            <a:off x="9697403" y="4945112"/>
            <a:ext cx="7142798" cy="2937421"/>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0A0A0A"/>
                </a:solidFill>
                <a:latin typeface="PP Neue Montreal" pitchFamily="34" charset="0"/>
                <a:ea typeface="PP Neue Montreal" pitchFamily="34" charset="-122"/>
                <a:cs typeface="PP Neue Montreal" pitchFamily="34" charset="-120"/>
              </a:rPr>
              <a:t>¿Cómo duermo mejor de forma natural?</a:t>
            </a:r>
            <a:endParaRPr lang="en-US" sz="2400" dirty="0"/>
          </a:p>
          <a:p>
            <a:pPr algn="l" indent="0" marL="0">
              <a:lnSpc>
                <a:spcPct val="140000"/>
              </a:lnSpc>
              <a:buNone/>
            </a:pPr>
            <a:r>
              <a:rPr lang="en-US" sz="2400" dirty="0">
                <a:solidFill>
                  <a:srgbClr val="0A0A0A"/>
                </a:solidFill>
                <a:latin typeface="PP Neue Montreal" pitchFamily="34" charset="0"/>
                <a:ea typeface="PP Neue Montreal" pitchFamily="34" charset="-122"/>
                <a:cs typeface="PP Neue Montreal" pitchFamily="34" charset="-120"/>
              </a:rPr>
              <a:t>Alimentos antiinflamatorios</a:t>
            </a:r>
            <a:endParaRPr lang="en-US" sz="2400" dirty="0"/>
          </a:p>
          <a:p>
            <a:pPr algn="l" indent="0" marL="0">
              <a:lnSpc>
                <a:spcPct val="140000"/>
              </a:lnSpc>
              <a:buNone/>
            </a:pPr>
            <a:r>
              <a:rPr lang="en-US" sz="2400" dirty="0">
                <a:solidFill>
                  <a:srgbClr val="0A0A0A"/>
                </a:solidFill>
                <a:latin typeface="PP Neue Montreal" pitchFamily="34" charset="0"/>
                <a:ea typeface="PP Neue Montreal" pitchFamily="34" charset="-122"/>
                <a:cs typeface="PP Neue Montreal" pitchFamily="34" charset="-120"/>
              </a:rPr>
              <a:t>Rutina mínima para mujeres 40+</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1524000" y="2316510"/>
            <a:ext cx="15697200" cy="860971"/>
          </a:xfrm>
          <a:prstGeom prst="rect">
            <a:avLst/>
          </a:prstGeom>
          <a:noFill/>
          <a:ln/>
        </p:spPr>
        <p:txBody>
          <a:bodyPr wrap="square" lIns="25400" tIns="25400" rIns="25400" bIns="25400" rtlCol="0" anchor="t">
            <a:normAutofit/>
          </a:bodyPr>
          <a:lstStyle/>
          <a:p>
            <a:pPr algn="l" indent="0" marL="0">
              <a:lnSpc>
                <a:spcPct val="108000"/>
              </a:lnSpc>
              <a:buNone/>
            </a:pPr>
            <a:r>
              <a:rPr lang="en-US" sz="6000" spc="-120" kern="0" dirty="0">
                <a:solidFill>
                  <a:srgbClr val="FAFAFA"/>
                </a:solidFill>
                <a:latin typeface="DM Serif Display" pitchFamily="34" charset="0"/>
                <a:ea typeface="DM Serif Display" pitchFamily="34" charset="-122"/>
                <a:cs typeface="DM Serif Display" pitchFamily="34" charset="-120"/>
              </a:rPr>
              <a:t>Seis meses </a:t>
            </a:r>
            <a:pPr algn="l" indent="0" marL="0">
              <a:lnSpc>
                <a:spcPct val="108000"/>
              </a:lnSpc>
              <a:buNone/>
            </a:pPr>
            <a:r>
              <a:rPr lang="en-US" sz="6000" i="1" spc="-120" kern="0" dirty="0">
                <a:solidFill>
                  <a:srgbClr val="FAFAFA"/>
                </a:solidFill>
                <a:latin typeface="DM Serif Display" pitchFamily="34" charset="0"/>
                <a:ea typeface="DM Serif Display" pitchFamily="34" charset="-122"/>
                <a:cs typeface="DM Serif Display" pitchFamily="34" charset="-120"/>
              </a:rPr>
              <a:t>después</a:t>
            </a:r>
            <a:pPr algn="l" indent="0" marL="0">
              <a:lnSpc>
                <a:spcPct val="108000"/>
              </a:lnSpc>
              <a:buNone/>
            </a:pPr>
            <a:r>
              <a:rPr lang="en-US" sz="6000" spc="-120" kern="0" dirty="0">
                <a:solidFill>
                  <a:srgbClr val="FAFAFA"/>
                </a:solidFill>
                <a:latin typeface="DM Serif Display" pitchFamily="34" charset="0"/>
                <a:ea typeface="DM Serif Display" pitchFamily="34" charset="-122"/>
                <a:cs typeface="DM Serif Display" pitchFamily="34" charset="-120"/>
              </a:rPr>
              <a:t>.</a:t>
            </a:r>
            <a:endParaRPr lang="en-US" sz="6000" dirty="0"/>
          </a:p>
        </p:txBody>
      </p:sp>
      <p:sp>
        <p:nvSpPr>
          <p:cNvPr id="3" name="Shape 1"/>
          <p:cNvSpPr/>
          <p:nvPr/>
        </p:nvSpPr>
        <p:spPr>
          <a:xfrm>
            <a:off x="1524000" y="4053780"/>
            <a:ext cx="4673501" cy="9525"/>
          </a:xfrm>
          <a:prstGeom prst="rect">
            <a:avLst/>
          </a:prstGeom>
          <a:solidFill>
            <a:srgbClr val="FFFFFF">
              <a:alpha val="20000"/>
            </a:srgbClr>
          </a:solidFill>
          <a:ln/>
        </p:spPr>
      </p:sp>
      <p:sp>
        <p:nvSpPr>
          <p:cNvPr id="4" name="Text 2"/>
          <p:cNvSpPr/>
          <p:nvPr/>
        </p:nvSpPr>
        <p:spPr>
          <a:xfrm>
            <a:off x="1524000" y="4291905"/>
            <a:ext cx="4813706" cy="1752600"/>
          </a:xfrm>
          <a:prstGeom prst="rect">
            <a:avLst/>
          </a:prstGeom>
          <a:noFill/>
          <a:ln/>
        </p:spPr>
        <p:txBody>
          <a:bodyPr wrap="square" lIns="25400" tIns="25400" rIns="25400" bIns="25400" rtlCol="0" anchor="t">
            <a:normAutofit/>
          </a:bodyPr>
          <a:lstStyle/>
          <a:p>
            <a:pPr algn="l" indent="0" marL="0">
              <a:lnSpc>
                <a:spcPct val="90000"/>
              </a:lnSpc>
              <a:buNone/>
            </a:pPr>
            <a:r>
              <a:rPr lang="en-US" sz="15000" i="1" spc="-600" kern="0" dirty="0">
                <a:solidFill>
                  <a:srgbClr val="FFD600"/>
                </a:solidFill>
                <a:latin typeface="DM Serif Display" pitchFamily="34" charset="0"/>
                <a:ea typeface="DM Serif Display" pitchFamily="34" charset="-122"/>
                <a:cs typeface="DM Serif Display" pitchFamily="34" charset="-120"/>
              </a:rPr>
              <a:t>×3</a:t>
            </a:r>
            <a:endParaRPr lang="en-US" sz="15000" dirty="0"/>
          </a:p>
        </p:txBody>
      </p:sp>
      <p:sp>
        <p:nvSpPr>
          <p:cNvPr id="5" name="Text 3"/>
          <p:cNvSpPr/>
          <p:nvPr/>
        </p:nvSpPr>
        <p:spPr>
          <a:xfrm>
            <a:off x="1524000" y="6235005"/>
            <a:ext cx="4813706" cy="381000"/>
          </a:xfrm>
          <a:prstGeom prst="rect">
            <a:avLst/>
          </a:prstGeom>
          <a:noFill/>
          <a:ln/>
        </p:spPr>
        <p:txBody>
          <a:bodyPr wrap="square" lIns="25400" tIns="25400" rIns="25400" bIns="25400" rtlCol="0" anchor="t">
            <a:normAutofit/>
          </a:bodyPr>
          <a:lstStyle/>
          <a:p>
            <a:pPr algn="l" indent="0" marL="0">
              <a:buNone/>
            </a:pPr>
            <a:r>
              <a:rPr lang="en-US" sz="2250" spc="225" kern="0" dirty="0">
                <a:solidFill>
                  <a:srgbClr val="FAFAFA"/>
                </a:solidFill>
                <a:latin typeface="PP Neue Montreal" pitchFamily="34" charset="0"/>
                <a:ea typeface="PP Neue Montreal" pitchFamily="34" charset="-122"/>
                <a:cs typeface="PP Neue Montreal" pitchFamily="34" charset="-120"/>
              </a:rPr>
              <a:t>SESIONES ORGÁNICAS</a:t>
            </a:r>
            <a:endParaRPr lang="en-US" sz="2250" dirty="0"/>
          </a:p>
        </p:txBody>
      </p:sp>
      <p:sp>
        <p:nvSpPr>
          <p:cNvPr id="6" name="Text 4"/>
          <p:cNvSpPr/>
          <p:nvPr/>
        </p:nvSpPr>
        <p:spPr>
          <a:xfrm>
            <a:off x="1524000" y="6692205"/>
            <a:ext cx="4813706"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999999"/>
                </a:solidFill>
                <a:latin typeface="PP Neue Montreal" pitchFamily="34" charset="0"/>
                <a:ea typeface="PP Neue Montreal" pitchFamily="34" charset="-122"/>
                <a:cs typeface="PP Neue Montreal" pitchFamily="34" charset="-120"/>
              </a:rPr>
              <a:t>Multiplicadas</a:t>
            </a:r>
            <a:endParaRPr lang="en-US" sz="2100" dirty="0"/>
          </a:p>
        </p:txBody>
      </p:sp>
      <p:sp>
        <p:nvSpPr>
          <p:cNvPr id="7" name="Shape 5"/>
          <p:cNvSpPr/>
          <p:nvPr/>
        </p:nvSpPr>
        <p:spPr>
          <a:xfrm>
            <a:off x="6807101" y="4053780"/>
            <a:ext cx="4673650" cy="9525"/>
          </a:xfrm>
          <a:prstGeom prst="rect">
            <a:avLst/>
          </a:prstGeom>
          <a:solidFill>
            <a:srgbClr val="FFFFFF">
              <a:alpha val="20000"/>
            </a:srgbClr>
          </a:solidFill>
          <a:ln/>
        </p:spPr>
      </p:sp>
      <p:sp>
        <p:nvSpPr>
          <p:cNvPr id="8" name="Text 6"/>
          <p:cNvSpPr/>
          <p:nvPr/>
        </p:nvSpPr>
        <p:spPr>
          <a:xfrm>
            <a:off x="6807101" y="4291905"/>
            <a:ext cx="4813859" cy="1752600"/>
          </a:xfrm>
          <a:prstGeom prst="rect">
            <a:avLst/>
          </a:prstGeom>
          <a:noFill/>
          <a:ln/>
        </p:spPr>
        <p:txBody>
          <a:bodyPr wrap="square" lIns="25400" tIns="25400" rIns="25400" bIns="25400" rtlCol="0" anchor="t">
            <a:normAutofit/>
          </a:bodyPr>
          <a:lstStyle/>
          <a:p>
            <a:pPr algn="l" indent="0" marL="0">
              <a:lnSpc>
                <a:spcPct val="90000"/>
              </a:lnSpc>
              <a:buNone/>
            </a:pPr>
            <a:r>
              <a:rPr lang="en-US" sz="15000" i="1" spc="-600" kern="0" dirty="0">
                <a:solidFill>
                  <a:srgbClr val="FFD600"/>
                </a:solidFill>
                <a:latin typeface="DM Serif Display" pitchFamily="34" charset="0"/>
                <a:ea typeface="DM Serif Display" pitchFamily="34" charset="-122"/>
                <a:cs typeface="DM Serif Display" pitchFamily="34" charset="-120"/>
              </a:rPr>
              <a:t>×6</a:t>
            </a:r>
            <a:endParaRPr lang="en-US" sz="15000" dirty="0"/>
          </a:p>
        </p:txBody>
      </p:sp>
      <p:sp>
        <p:nvSpPr>
          <p:cNvPr id="9" name="Text 7"/>
          <p:cNvSpPr/>
          <p:nvPr/>
        </p:nvSpPr>
        <p:spPr>
          <a:xfrm>
            <a:off x="6807101" y="6235005"/>
            <a:ext cx="4813859" cy="381000"/>
          </a:xfrm>
          <a:prstGeom prst="rect">
            <a:avLst/>
          </a:prstGeom>
          <a:noFill/>
          <a:ln/>
        </p:spPr>
        <p:txBody>
          <a:bodyPr wrap="square" lIns="25400" tIns="25400" rIns="25400" bIns="25400" rtlCol="0" anchor="t">
            <a:normAutofit/>
          </a:bodyPr>
          <a:lstStyle/>
          <a:p>
            <a:pPr algn="l" indent="0" marL="0">
              <a:buNone/>
            </a:pPr>
            <a:r>
              <a:rPr lang="en-US" sz="2250" spc="225" kern="0" dirty="0">
                <a:solidFill>
                  <a:srgbClr val="FAFAFA"/>
                </a:solidFill>
                <a:latin typeface="PP Neue Montreal" pitchFamily="34" charset="0"/>
                <a:ea typeface="PP Neue Montreal" pitchFamily="34" charset="-122"/>
                <a:cs typeface="PP Neue Montreal" pitchFamily="34" charset="-120"/>
              </a:rPr>
              <a:t>CONVERSIÓN</a:t>
            </a:r>
            <a:endParaRPr lang="en-US" sz="2250" dirty="0"/>
          </a:p>
        </p:txBody>
      </p:sp>
      <p:sp>
        <p:nvSpPr>
          <p:cNvPr id="10" name="Text 8"/>
          <p:cNvSpPr/>
          <p:nvPr/>
        </p:nvSpPr>
        <p:spPr>
          <a:xfrm>
            <a:off x="6807101" y="6692205"/>
            <a:ext cx="4813859"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999999"/>
                </a:solidFill>
                <a:latin typeface="PP Neue Montreal" pitchFamily="34" charset="0"/>
                <a:ea typeface="PP Neue Montreal" pitchFamily="34" charset="-122"/>
                <a:cs typeface="PP Neue Montreal" pitchFamily="34" charset="-120"/>
              </a:rPr>
              <a:t>Multiplicada</a:t>
            </a:r>
            <a:endParaRPr lang="en-US" sz="2100" dirty="0"/>
          </a:p>
        </p:txBody>
      </p:sp>
      <p:sp>
        <p:nvSpPr>
          <p:cNvPr id="11" name="Shape 9"/>
          <p:cNvSpPr/>
          <p:nvPr/>
        </p:nvSpPr>
        <p:spPr>
          <a:xfrm>
            <a:off x="12090350" y="4053780"/>
            <a:ext cx="4673501" cy="9525"/>
          </a:xfrm>
          <a:prstGeom prst="rect">
            <a:avLst/>
          </a:prstGeom>
          <a:solidFill>
            <a:srgbClr val="FFFFFF">
              <a:alpha val="20000"/>
            </a:srgbClr>
          </a:solidFill>
          <a:ln/>
        </p:spPr>
      </p:sp>
      <p:sp>
        <p:nvSpPr>
          <p:cNvPr id="12" name="Text 10"/>
          <p:cNvSpPr/>
          <p:nvPr/>
        </p:nvSpPr>
        <p:spPr>
          <a:xfrm>
            <a:off x="12090350" y="4291905"/>
            <a:ext cx="4813706" cy="1752600"/>
          </a:xfrm>
          <a:prstGeom prst="rect">
            <a:avLst/>
          </a:prstGeom>
          <a:noFill/>
          <a:ln/>
        </p:spPr>
        <p:txBody>
          <a:bodyPr wrap="square" lIns="25400" tIns="25400" rIns="25400" bIns="25400" rtlCol="0" anchor="t">
            <a:normAutofit/>
          </a:bodyPr>
          <a:lstStyle/>
          <a:p>
            <a:pPr algn="l" indent="0" marL="0">
              <a:lnSpc>
                <a:spcPct val="90000"/>
              </a:lnSpc>
              <a:buNone/>
            </a:pPr>
            <a:r>
              <a:rPr lang="en-US" sz="15000" i="1" spc="-600" kern="0" dirty="0">
                <a:solidFill>
                  <a:srgbClr val="FFD600"/>
                </a:solidFill>
                <a:latin typeface="DM Serif Display" pitchFamily="34" charset="0"/>
                <a:ea typeface="DM Serif Display" pitchFamily="34" charset="-122"/>
                <a:cs typeface="DM Serif Display" pitchFamily="34" charset="-120"/>
              </a:rPr>
              <a:t>55%</a:t>
            </a:r>
            <a:endParaRPr lang="en-US" sz="15000" dirty="0"/>
          </a:p>
        </p:txBody>
      </p:sp>
      <p:sp>
        <p:nvSpPr>
          <p:cNvPr id="13" name="Text 11"/>
          <p:cNvSpPr/>
          <p:nvPr/>
        </p:nvSpPr>
        <p:spPr>
          <a:xfrm>
            <a:off x="12090350" y="6235005"/>
            <a:ext cx="4813706" cy="381000"/>
          </a:xfrm>
          <a:prstGeom prst="rect">
            <a:avLst/>
          </a:prstGeom>
          <a:noFill/>
          <a:ln/>
        </p:spPr>
        <p:txBody>
          <a:bodyPr wrap="square" lIns="25400" tIns="25400" rIns="25400" bIns="25400" rtlCol="0" anchor="t">
            <a:normAutofit/>
          </a:bodyPr>
          <a:lstStyle/>
          <a:p>
            <a:pPr algn="l" indent="0" marL="0">
              <a:buNone/>
            </a:pPr>
            <a:r>
              <a:rPr lang="en-US" sz="2250" spc="225" kern="0" dirty="0">
                <a:solidFill>
                  <a:srgbClr val="FAFAFA"/>
                </a:solidFill>
                <a:latin typeface="PP Neue Montreal" pitchFamily="34" charset="0"/>
                <a:ea typeface="PP Neue Montreal" pitchFamily="34" charset="-122"/>
                <a:cs typeface="PP Neue Montreal" pitchFamily="34" charset="-120"/>
              </a:rPr>
              <a:t>MIX BLOG</a:t>
            </a:r>
            <a:endParaRPr lang="en-US" sz="2250" dirty="0"/>
          </a:p>
        </p:txBody>
      </p:sp>
      <p:sp>
        <p:nvSpPr>
          <p:cNvPr id="14" name="Text 12"/>
          <p:cNvSpPr/>
          <p:nvPr/>
        </p:nvSpPr>
        <p:spPr>
          <a:xfrm>
            <a:off x="12090350" y="6692205"/>
            <a:ext cx="4813706"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999999"/>
                </a:solidFill>
                <a:latin typeface="PP Neue Montreal" pitchFamily="34" charset="0"/>
                <a:ea typeface="PP Neue Montreal" pitchFamily="34" charset="-122"/>
                <a:cs typeface="PP Neue Montreal" pitchFamily="34" charset="-120"/>
              </a:rPr>
              <a:t>Antes 89%</a:t>
            </a:r>
            <a:endParaRPr lang="en-US" sz="2100" dirty="0"/>
          </a:p>
        </p:txBody>
      </p:sp>
      <p:sp>
        <p:nvSpPr>
          <p:cNvPr id="15" name="Text 13"/>
          <p:cNvSpPr/>
          <p:nvPr/>
        </p:nvSpPr>
        <p:spPr>
          <a:xfrm>
            <a:off x="1524000" y="7675066"/>
            <a:ext cx="15697200"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666666"/>
                </a:solidFill>
                <a:latin typeface="PP Neue Montreal" pitchFamily="34" charset="0"/>
                <a:ea typeface="PP Neue Montreal" pitchFamily="34" charset="-122"/>
                <a:cs typeface="PP Neue Montreal" pitchFamily="34" charset="-120"/>
              </a:rPr>
              <a:t>Magnify · Cliente H&amp;W · 6 meses</a:t>
            </a:r>
            <a:endParaRPr lang="en-US" sz="1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6776392" y="2455515"/>
            <a:ext cx="4735067" cy="381000"/>
          </a:xfrm>
          <a:prstGeom prst="rect">
            <a:avLst/>
          </a:prstGeom>
          <a:noFill/>
          <a:ln/>
        </p:spPr>
        <p:txBody>
          <a:bodyPr wrap="square" lIns="25400" tIns="25400" rIns="25400" bIns="25400" rtlCol="0" anchor="t">
            <a:normAutofit/>
          </a:bodyPr>
          <a:lstStyle/>
          <a:p>
            <a:pPr algn="ctr" indent="0" marL="0">
              <a:buNone/>
            </a:pPr>
            <a:r>
              <a:rPr lang="en-US" sz="2250" spc="405" kern="0" dirty="0">
                <a:solidFill>
                  <a:srgbClr val="444444"/>
                </a:solidFill>
                <a:latin typeface="PP Neue Montreal" pitchFamily="34" charset="0"/>
                <a:ea typeface="PP Neue Montreal" pitchFamily="34" charset="-122"/>
                <a:cs typeface="PP Neue Montreal" pitchFamily="34" charset="-120"/>
              </a:rPr>
              <a:t>EL COSTE DE LA LIMPIEZA</a:t>
            </a:r>
            <a:endParaRPr lang="en-US" sz="2250" dirty="0"/>
          </a:p>
        </p:txBody>
      </p:sp>
      <p:sp>
        <p:nvSpPr>
          <p:cNvPr id="3" name="Text 1"/>
          <p:cNvSpPr/>
          <p:nvPr/>
        </p:nvSpPr>
        <p:spPr>
          <a:xfrm>
            <a:off x="6119379" y="3027015"/>
            <a:ext cx="6049094" cy="2438400"/>
          </a:xfrm>
          <a:prstGeom prst="rect">
            <a:avLst/>
          </a:prstGeom>
          <a:noFill/>
          <a:ln/>
        </p:spPr>
        <p:txBody>
          <a:bodyPr wrap="square" lIns="25400" tIns="25400" rIns="25400" bIns="25400" rtlCol="0" anchor="t">
            <a:normAutofit/>
          </a:bodyPr>
          <a:lstStyle/>
          <a:p>
            <a:pPr algn="ctr" indent="0" marL="0">
              <a:lnSpc>
                <a:spcPct val="90000"/>
              </a:lnSpc>
              <a:buNone/>
            </a:pPr>
            <a:r>
              <a:rPr lang="en-US" sz="21000" i="1" spc="-840" kern="0" dirty="0">
                <a:solidFill>
                  <a:srgbClr val="0A0A0A"/>
                </a:solidFill>
                <a:latin typeface="DM Serif Display" pitchFamily="34" charset="0"/>
                <a:ea typeface="DM Serif Display" pitchFamily="34" charset="-122"/>
                <a:cs typeface="DM Serif Display" pitchFamily="34" charset="-120"/>
              </a:rPr>
              <a:t>−37%</a:t>
            </a:r>
            <a:endParaRPr lang="en-US" sz="21000" dirty="0"/>
          </a:p>
        </p:txBody>
      </p:sp>
      <p:sp>
        <p:nvSpPr>
          <p:cNvPr id="4" name="Text 2"/>
          <p:cNvSpPr/>
          <p:nvPr/>
        </p:nvSpPr>
        <p:spPr>
          <a:xfrm>
            <a:off x="5835174" y="5732115"/>
            <a:ext cx="6617504" cy="708571"/>
          </a:xfrm>
          <a:prstGeom prst="rect">
            <a:avLst/>
          </a:prstGeom>
          <a:noFill/>
          <a:ln/>
        </p:spPr>
        <p:txBody>
          <a:bodyPr wrap="square" lIns="25400" tIns="25400" rIns="25400" bIns="25400" rtlCol="0" anchor="t">
            <a:normAutofit/>
          </a:bodyPr>
          <a:lstStyle/>
          <a:p>
            <a:pPr algn="ctr" indent="0" marL="0">
              <a:lnSpc>
                <a:spcPct val="110000"/>
              </a:lnSpc>
              <a:buNone/>
            </a:pPr>
            <a:r>
              <a:rPr lang="en-US" sz="4800" spc="-96" kern="0" dirty="0">
                <a:solidFill>
                  <a:srgbClr val="0A0A0A"/>
                </a:solidFill>
                <a:latin typeface="DM Serif Display" pitchFamily="34" charset="0"/>
                <a:ea typeface="DM Serif Display" pitchFamily="34" charset="-122"/>
                <a:cs typeface="DM Serif Display" pitchFamily="34" charset="-120"/>
              </a:rPr>
              <a:t>Tráfico vanity </a:t>
            </a:r>
            <a:pPr algn="ctr" indent="0" marL="0">
              <a:lnSpc>
                <a:spcPct val="110000"/>
              </a:lnSpc>
              <a:buNone/>
            </a:pPr>
            <a:r>
              <a:rPr lang="en-US" sz="4800" i="1" spc="-96" kern="0" dirty="0">
                <a:solidFill>
                  <a:srgbClr val="0A0A0A"/>
                </a:solidFill>
                <a:latin typeface="DM Serif Display" pitchFamily="34" charset="0"/>
                <a:ea typeface="DM Serif Display" pitchFamily="34" charset="-122"/>
                <a:cs typeface="DM Serif Display" pitchFamily="34" charset="-120"/>
              </a:rPr>
              <a:t>eliminado</a:t>
            </a:r>
            <a:pPr algn="ctr" indent="0" marL="0">
              <a:lnSpc>
                <a:spcPct val="110000"/>
              </a:lnSpc>
              <a:buNone/>
            </a:pPr>
            <a:r>
              <a:rPr lang="en-US" sz="4800" spc="-96" kern="0" dirty="0">
                <a:solidFill>
                  <a:srgbClr val="0A0A0A"/>
                </a:solidFill>
                <a:latin typeface="DM Serif Display" pitchFamily="34" charset="0"/>
                <a:ea typeface="DM Serif Display" pitchFamily="34" charset="-122"/>
                <a:cs typeface="DM Serif Display" pitchFamily="34" charset="-120"/>
              </a:rPr>
              <a:t>.</a:t>
            </a:r>
            <a:endParaRPr lang="en-US" sz="4800" dirty="0"/>
          </a:p>
        </p:txBody>
      </p:sp>
      <p:sp>
        <p:nvSpPr>
          <p:cNvPr id="5" name="Text 3"/>
          <p:cNvSpPr/>
          <p:nvPr/>
        </p:nvSpPr>
        <p:spPr>
          <a:xfrm>
            <a:off x="4853177" y="6859786"/>
            <a:ext cx="8581647" cy="1009650"/>
          </a:xfrm>
          <a:prstGeom prst="rect">
            <a:avLst/>
          </a:prstGeom>
          <a:noFill/>
          <a:ln/>
        </p:spPr>
        <p:txBody>
          <a:bodyPr wrap="square" lIns="25400" tIns="25400" rIns="25400" bIns="25400" rtlCol="0" anchor="t">
            <a:normAutofit/>
          </a:bodyPr>
          <a:lstStyle/>
          <a:p>
            <a:pPr algn="ctr" indent="0" marL="0">
              <a:lnSpc>
                <a:spcPct val="150000"/>
              </a:lnSpc>
              <a:buNone/>
            </a:pPr>
            <a:r>
              <a:rPr lang="en-US" sz="2550" dirty="0">
                <a:solidFill>
                  <a:srgbClr val="666666"/>
                </a:solidFill>
                <a:latin typeface="PP Neue Montreal" pitchFamily="34" charset="0"/>
                <a:ea typeface="PP Neue Montreal" pitchFamily="34" charset="-122"/>
                <a:cs typeface="PP Neue Montreal" pitchFamily="34" charset="-120"/>
              </a:rPr>
              <a:t>120 posts pruneados. Decisión consciente. La web mejoró porque aceptamos perder lo que no aportaba.</a:t>
            </a:r>
            <a:endParaRPr lang="en-US" sz="2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1524000" y="3508028"/>
            <a:ext cx="15697200" cy="3309045"/>
          </a:xfrm>
          <a:prstGeom prst="rect">
            <a:avLst/>
          </a:prstGeom>
          <a:noFill/>
          <a:ln/>
        </p:spPr>
        <p:txBody>
          <a:bodyPr wrap="square" lIns="25400" tIns="25400" rIns="25400" bIns="25400" rtlCol="0" anchor="t">
            <a:normAutofit/>
          </a:bodyPr>
          <a:lstStyle/>
          <a:p>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Los problemas cambiaron la arquitectura. Y después, el </a:t>
            </a:r>
            <a:pPr algn="l" indent="0" marL="0">
              <a:lnSpc>
                <a:spcPct val="106000"/>
              </a:lnSpc>
              <a:buNone/>
            </a:pPr>
            <a:r>
              <a:rPr lang="en-US" sz="8100" i="1" spc="-162" kern="0" dirty="0">
                <a:solidFill>
                  <a:srgbClr val="0A0A0A"/>
                </a:solidFill>
                <a:latin typeface="DM Serif Display" pitchFamily="34" charset="0"/>
                <a:ea typeface="DM Serif Display" pitchFamily="34" charset="-122"/>
                <a:cs typeface="DM Serif Display" pitchFamily="34" charset="-120"/>
              </a:rPr>
              <a:t>catálogo</a:t>
            </a:r>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a:t>
            </a:r>
            <a:endParaRPr lang="en-US" sz="8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1524000" y="2971502"/>
            <a:ext cx="15697200" cy="860971"/>
          </a:xfrm>
          <a:prstGeom prst="rect">
            <a:avLst/>
          </a:prstGeom>
          <a:noFill/>
          <a:ln/>
        </p:spPr>
        <p:txBody>
          <a:bodyPr wrap="square" lIns="25400" tIns="25400" rIns="25400" bIns="25400" rtlCol="0" anchor="t">
            <a:normAutofit/>
          </a:bodyPr>
          <a:lstStyle/>
          <a:p>
            <a:pPr algn="l" indent="0" marL="0">
              <a:lnSpc>
                <a:spcPct val="108000"/>
              </a:lnSpc>
              <a:buNone/>
            </a:pPr>
            <a:r>
              <a:rPr lang="en-US" sz="6000" spc="-120" kern="0" dirty="0">
                <a:solidFill>
                  <a:srgbClr val="FAFAFA"/>
                </a:solidFill>
                <a:latin typeface="DM Serif Display" pitchFamily="34" charset="0"/>
                <a:ea typeface="DM Serif Display" pitchFamily="34" charset="-122"/>
                <a:cs typeface="DM Serif Display" pitchFamily="34" charset="-120"/>
              </a:rPr>
              <a:t>Las </a:t>
            </a:r>
            <a:pPr algn="l" indent="0" marL="0">
              <a:lnSpc>
                <a:spcPct val="108000"/>
              </a:lnSpc>
              <a:buNone/>
            </a:pPr>
            <a:r>
              <a:rPr lang="en-US" sz="6000" i="1" spc="-120" kern="0" dirty="0">
                <a:solidFill>
                  <a:srgbClr val="FAFAFA"/>
                </a:solidFill>
                <a:latin typeface="DM Serif Display" pitchFamily="34" charset="0"/>
                <a:ea typeface="DM Serif Display" pitchFamily="34" charset="-122"/>
                <a:cs typeface="DM Serif Display" pitchFamily="34" charset="-120"/>
              </a:rPr>
              <a:t>cuatro </a:t>
            </a:r>
            <a:pPr algn="l" indent="0" marL="0">
              <a:lnSpc>
                <a:spcPct val="108000"/>
              </a:lnSpc>
              <a:buNone/>
            </a:pPr>
            <a:r>
              <a:rPr lang="en-US" sz="6000" spc="-120" kern="0" dirty="0">
                <a:solidFill>
                  <a:srgbClr val="FAFAFA"/>
                </a:solidFill>
                <a:latin typeface="DM Serif Display" pitchFamily="34" charset="0"/>
                <a:ea typeface="DM Serif Display" pitchFamily="34" charset="-122"/>
                <a:cs typeface="DM Serif Display" pitchFamily="34" charset="-120"/>
              </a:rPr>
              <a:t>etapas de confianza.</a:t>
            </a:r>
            <a:endParaRPr lang="en-US" sz="6000" dirty="0"/>
          </a:p>
        </p:txBody>
      </p:sp>
      <p:sp>
        <p:nvSpPr>
          <p:cNvPr id="3" name="Shape 1"/>
          <p:cNvSpPr/>
          <p:nvPr/>
        </p:nvSpPr>
        <p:spPr>
          <a:xfrm>
            <a:off x="1524000" y="4708773"/>
            <a:ext cx="3467100" cy="19050"/>
          </a:xfrm>
          <a:prstGeom prst="rect">
            <a:avLst/>
          </a:prstGeom>
          <a:solidFill>
            <a:srgbClr val="FFD600"/>
          </a:solidFill>
          <a:ln/>
        </p:spPr>
      </p:sp>
      <p:sp>
        <p:nvSpPr>
          <p:cNvPr id="4" name="Text 2"/>
          <p:cNvSpPr/>
          <p:nvPr/>
        </p:nvSpPr>
        <p:spPr>
          <a:xfrm>
            <a:off x="1524000" y="4956423"/>
            <a:ext cx="3571113" cy="1181100"/>
          </a:xfrm>
          <a:prstGeom prst="rect">
            <a:avLst/>
          </a:prstGeom>
          <a:noFill/>
          <a:ln/>
        </p:spPr>
        <p:txBody>
          <a:bodyPr wrap="square" lIns="25400" tIns="25400" rIns="25400" bIns="25400" rtlCol="0" anchor="t">
            <a:normAutofit/>
          </a:bodyPr>
          <a:lstStyle/>
          <a:p>
            <a:pPr algn="l" indent="0" marL="0">
              <a:lnSpc>
                <a:spcPct val="100000"/>
              </a:lnSpc>
              <a:buNone/>
            </a:pPr>
            <a:r>
              <a:rPr lang="en-US" sz="9000" i="1" dirty="0">
                <a:solidFill>
                  <a:srgbClr val="FFD600"/>
                </a:solidFill>
                <a:latin typeface="DM Serif Display" pitchFamily="34" charset="0"/>
                <a:ea typeface="DM Serif Display" pitchFamily="34" charset="-122"/>
                <a:cs typeface="DM Serif Display" pitchFamily="34" charset="-120"/>
              </a:rPr>
              <a:t>01</a:t>
            </a:r>
            <a:endParaRPr lang="en-US" sz="9000" dirty="0"/>
          </a:p>
        </p:txBody>
      </p:sp>
      <p:sp>
        <p:nvSpPr>
          <p:cNvPr id="5" name="Text 3"/>
          <p:cNvSpPr/>
          <p:nvPr/>
        </p:nvSpPr>
        <p:spPr>
          <a:xfrm>
            <a:off x="1524000" y="6328023"/>
            <a:ext cx="3571113" cy="531763"/>
          </a:xfrm>
          <a:prstGeom prst="rect">
            <a:avLst/>
          </a:prstGeom>
          <a:noFill/>
          <a:ln/>
        </p:spPr>
        <p:txBody>
          <a:bodyPr wrap="square" lIns="25400" tIns="25400" rIns="25400" bIns="25400" rtlCol="0" anchor="t">
            <a:normAutofit/>
          </a:bodyPr>
          <a:lstStyle/>
          <a:p>
            <a:pPr algn="l" indent="0" marL="0">
              <a:lnSpc>
                <a:spcPct val="108000"/>
              </a:lnSpc>
              <a:buNone/>
            </a:pPr>
            <a:r>
              <a:rPr lang="en-US" sz="3600" spc="-36" kern="0" dirty="0">
                <a:solidFill>
                  <a:srgbClr val="FAFAFA"/>
                </a:solidFill>
                <a:latin typeface="DM Serif Display" pitchFamily="34" charset="0"/>
                <a:ea typeface="DM Serif Display" pitchFamily="34" charset="-122"/>
                <a:cs typeface="DM Serif Display" pitchFamily="34" charset="-120"/>
              </a:rPr>
              <a:t>Reconocimiento</a:t>
            </a:r>
            <a:endParaRPr lang="en-US" sz="3600" dirty="0"/>
          </a:p>
        </p:txBody>
      </p:sp>
      <p:sp>
        <p:nvSpPr>
          <p:cNvPr id="6" name="Shape 4"/>
          <p:cNvSpPr/>
          <p:nvPr/>
        </p:nvSpPr>
        <p:spPr>
          <a:xfrm>
            <a:off x="5448300" y="4708773"/>
            <a:ext cx="3467100" cy="19050"/>
          </a:xfrm>
          <a:prstGeom prst="rect">
            <a:avLst/>
          </a:prstGeom>
          <a:solidFill>
            <a:srgbClr val="FFD600"/>
          </a:solidFill>
          <a:ln/>
        </p:spPr>
      </p:sp>
      <p:sp>
        <p:nvSpPr>
          <p:cNvPr id="7" name="Text 5"/>
          <p:cNvSpPr/>
          <p:nvPr/>
        </p:nvSpPr>
        <p:spPr>
          <a:xfrm>
            <a:off x="5448300" y="4956423"/>
            <a:ext cx="3571113" cy="1181100"/>
          </a:xfrm>
          <a:prstGeom prst="rect">
            <a:avLst/>
          </a:prstGeom>
          <a:noFill/>
          <a:ln/>
        </p:spPr>
        <p:txBody>
          <a:bodyPr wrap="square" lIns="25400" tIns="25400" rIns="25400" bIns="25400" rtlCol="0" anchor="t">
            <a:normAutofit/>
          </a:bodyPr>
          <a:lstStyle/>
          <a:p>
            <a:pPr algn="l" indent="0" marL="0">
              <a:lnSpc>
                <a:spcPct val="100000"/>
              </a:lnSpc>
              <a:buNone/>
            </a:pPr>
            <a:r>
              <a:rPr lang="en-US" sz="9000" i="1" dirty="0">
                <a:solidFill>
                  <a:srgbClr val="FFD600"/>
                </a:solidFill>
                <a:latin typeface="DM Serif Display" pitchFamily="34" charset="0"/>
                <a:ea typeface="DM Serif Display" pitchFamily="34" charset="-122"/>
                <a:cs typeface="DM Serif Display" pitchFamily="34" charset="-120"/>
              </a:rPr>
              <a:t>02</a:t>
            </a:r>
            <a:endParaRPr lang="en-US" sz="9000" dirty="0"/>
          </a:p>
        </p:txBody>
      </p:sp>
      <p:sp>
        <p:nvSpPr>
          <p:cNvPr id="8" name="Text 6"/>
          <p:cNvSpPr/>
          <p:nvPr/>
        </p:nvSpPr>
        <p:spPr>
          <a:xfrm>
            <a:off x="5448300" y="6328023"/>
            <a:ext cx="3571113" cy="531763"/>
          </a:xfrm>
          <a:prstGeom prst="rect">
            <a:avLst/>
          </a:prstGeom>
          <a:noFill/>
          <a:ln/>
        </p:spPr>
        <p:txBody>
          <a:bodyPr wrap="square" lIns="25400" tIns="25400" rIns="25400" bIns="25400" rtlCol="0" anchor="t">
            <a:normAutofit/>
          </a:bodyPr>
          <a:lstStyle/>
          <a:p>
            <a:pPr algn="l" indent="0" marL="0">
              <a:lnSpc>
                <a:spcPct val="108000"/>
              </a:lnSpc>
              <a:buNone/>
            </a:pPr>
            <a:r>
              <a:rPr lang="en-US" sz="3600" spc="-36" kern="0" dirty="0">
                <a:solidFill>
                  <a:srgbClr val="FAFAFA"/>
                </a:solidFill>
                <a:latin typeface="DM Serif Display" pitchFamily="34" charset="0"/>
                <a:ea typeface="DM Serif Display" pitchFamily="34" charset="-122"/>
                <a:cs typeface="DM Serif Display" pitchFamily="34" charset="-120"/>
              </a:rPr>
              <a:t>Credibilidad</a:t>
            </a:r>
            <a:endParaRPr lang="en-US" sz="3600" dirty="0"/>
          </a:p>
        </p:txBody>
      </p:sp>
      <p:sp>
        <p:nvSpPr>
          <p:cNvPr id="9" name="Shape 7"/>
          <p:cNvSpPr/>
          <p:nvPr/>
        </p:nvSpPr>
        <p:spPr>
          <a:xfrm>
            <a:off x="9372600" y="4708773"/>
            <a:ext cx="3467100" cy="19050"/>
          </a:xfrm>
          <a:prstGeom prst="rect">
            <a:avLst/>
          </a:prstGeom>
          <a:solidFill>
            <a:srgbClr val="FFD600"/>
          </a:solidFill>
          <a:ln/>
        </p:spPr>
      </p:sp>
      <p:sp>
        <p:nvSpPr>
          <p:cNvPr id="10" name="Text 8"/>
          <p:cNvSpPr/>
          <p:nvPr/>
        </p:nvSpPr>
        <p:spPr>
          <a:xfrm>
            <a:off x="9372600" y="4956423"/>
            <a:ext cx="3571113" cy="1181100"/>
          </a:xfrm>
          <a:prstGeom prst="rect">
            <a:avLst/>
          </a:prstGeom>
          <a:noFill/>
          <a:ln/>
        </p:spPr>
        <p:txBody>
          <a:bodyPr wrap="square" lIns="25400" tIns="25400" rIns="25400" bIns="25400" rtlCol="0" anchor="t">
            <a:normAutofit/>
          </a:bodyPr>
          <a:lstStyle/>
          <a:p>
            <a:pPr algn="l" indent="0" marL="0">
              <a:lnSpc>
                <a:spcPct val="100000"/>
              </a:lnSpc>
              <a:buNone/>
            </a:pPr>
            <a:r>
              <a:rPr lang="en-US" sz="9000" i="1" dirty="0">
                <a:solidFill>
                  <a:srgbClr val="FFD600"/>
                </a:solidFill>
                <a:latin typeface="DM Serif Display" pitchFamily="34" charset="0"/>
                <a:ea typeface="DM Serif Display" pitchFamily="34" charset="-122"/>
                <a:cs typeface="DM Serif Display" pitchFamily="34" charset="-120"/>
              </a:rPr>
              <a:t>03</a:t>
            </a:r>
            <a:endParaRPr lang="en-US" sz="9000" dirty="0"/>
          </a:p>
        </p:txBody>
      </p:sp>
      <p:sp>
        <p:nvSpPr>
          <p:cNvPr id="11" name="Text 9"/>
          <p:cNvSpPr/>
          <p:nvPr/>
        </p:nvSpPr>
        <p:spPr>
          <a:xfrm>
            <a:off x="9372600" y="6328023"/>
            <a:ext cx="3571113" cy="1025426"/>
          </a:xfrm>
          <a:prstGeom prst="rect">
            <a:avLst/>
          </a:prstGeom>
          <a:noFill/>
          <a:ln/>
        </p:spPr>
        <p:txBody>
          <a:bodyPr wrap="square" lIns="25400" tIns="25400" rIns="25400" bIns="25400" rtlCol="0" anchor="t">
            <a:normAutofit/>
          </a:bodyPr>
          <a:lstStyle/>
          <a:p>
            <a:pPr algn="l" indent="0" marL="0">
              <a:lnSpc>
                <a:spcPct val="108000"/>
              </a:lnSpc>
              <a:buNone/>
            </a:pPr>
            <a:r>
              <a:rPr lang="en-US" sz="3600" spc="-36" kern="0" dirty="0">
                <a:solidFill>
                  <a:srgbClr val="FAFAFA"/>
                </a:solidFill>
                <a:latin typeface="DM Serif Display" pitchFamily="34" charset="0"/>
                <a:ea typeface="DM Serif Display" pitchFamily="34" charset="-122"/>
                <a:cs typeface="DM Serif Display" pitchFamily="34" charset="-120"/>
              </a:rPr>
              <a:t>Reducción de riesgo</a:t>
            </a:r>
            <a:endParaRPr lang="en-US" sz="3600" dirty="0"/>
          </a:p>
        </p:txBody>
      </p:sp>
      <p:sp>
        <p:nvSpPr>
          <p:cNvPr id="12" name="Shape 10"/>
          <p:cNvSpPr/>
          <p:nvPr/>
        </p:nvSpPr>
        <p:spPr>
          <a:xfrm>
            <a:off x="13296900" y="4708773"/>
            <a:ext cx="3467100" cy="19050"/>
          </a:xfrm>
          <a:prstGeom prst="rect">
            <a:avLst/>
          </a:prstGeom>
          <a:solidFill>
            <a:srgbClr val="FFD600"/>
          </a:solidFill>
          <a:ln/>
        </p:spPr>
      </p:sp>
      <p:sp>
        <p:nvSpPr>
          <p:cNvPr id="13" name="Text 11"/>
          <p:cNvSpPr/>
          <p:nvPr/>
        </p:nvSpPr>
        <p:spPr>
          <a:xfrm>
            <a:off x="13296900" y="4956423"/>
            <a:ext cx="3571113" cy="1181100"/>
          </a:xfrm>
          <a:prstGeom prst="rect">
            <a:avLst/>
          </a:prstGeom>
          <a:noFill/>
          <a:ln/>
        </p:spPr>
        <p:txBody>
          <a:bodyPr wrap="square" lIns="25400" tIns="25400" rIns="25400" bIns="25400" rtlCol="0" anchor="t">
            <a:normAutofit/>
          </a:bodyPr>
          <a:lstStyle/>
          <a:p>
            <a:pPr algn="l" indent="0" marL="0">
              <a:lnSpc>
                <a:spcPct val="100000"/>
              </a:lnSpc>
              <a:buNone/>
            </a:pPr>
            <a:r>
              <a:rPr lang="en-US" sz="9000" i="1" dirty="0">
                <a:solidFill>
                  <a:srgbClr val="FFD600"/>
                </a:solidFill>
                <a:latin typeface="DM Serif Display" pitchFamily="34" charset="0"/>
                <a:ea typeface="DM Serif Display" pitchFamily="34" charset="-122"/>
                <a:cs typeface="DM Serif Display" pitchFamily="34" charset="-120"/>
              </a:rPr>
              <a:t>04</a:t>
            </a:r>
            <a:endParaRPr lang="en-US" sz="9000" dirty="0"/>
          </a:p>
        </p:txBody>
      </p:sp>
      <p:sp>
        <p:nvSpPr>
          <p:cNvPr id="14" name="Text 12"/>
          <p:cNvSpPr/>
          <p:nvPr/>
        </p:nvSpPr>
        <p:spPr>
          <a:xfrm>
            <a:off x="13296900" y="6328023"/>
            <a:ext cx="3571113" cy="531763"/>
          </a:xfrm>
          <a:prstGeom prst="rect">
            <a:avLst/>
          </a:prstGeom>
          <a:noFill/>
          <a:ln/>
        </p:spPr>
        <p:txBody>
          <a:bodyPr wrap="square" lIns="25400" tIns="25400" rIns="25400" bIns="25400" rtlCol="0" anchor="t">
            <a:normAutofit/>
          </a:bodyPr>
          <a:lstStyle/>
          <a:p>
            <a:pPr algn="l" indent="0" marL="0">
              <a:lnSpc>
                <a:spcPct val="108000"/>
              </a:lnSpc>
              <a:buNone/>
            </a:pPr>
            <a:r>
              <a:rPr lang="en-US" sz="3600" spc="-36" kern="0" dirty="0">
                <a:solidFill>
                  <a:srgbClr val="FAFAFA"/>
                </a:solidFill>
                <a:latin typeface="DM Serif Display" pitchFamily="34" charset="0"/>
                <a:ea typeface="DM Serif Display" pitchFamily="34" charset="-122"/>
                <a:cs typeface="DM Serif Display" pitchFamily="34" charset="-120"/>
              </a:rPr>
              <a:t>Compromiso</a:t>
            </a:r>
            <a:endParaRPr lang="en-US" sz="3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1524000" y="763042"/>
            <a:ext cx="15697200" cy="860971"/>
          </a:xfrm>
          <a:prstGeom prst="rect">
            <a:avLst/>
          </a:prstGeom>
          <a:noFill/>
          <a:ln/>
        </p:spPr>
        <p:txBody>
          <a:bodyPr wrap="square" lIns="25400" tIns="25400" rIns="25400" bIns="25400" rtlCol="0" anchor="t">
            <a:normAutofit/>
          </a:bodyPr>
          <a:lstStyle/>
          <a:p>
            <a:pPr algn="l" indent="0" marL="0">
              <a:lnSpc>
                <a:spcPct val="108000"/>
              </a:lnSpc>
              <a:buNone/>
            </a:pPr>
            <a:r>
              <a:rPr lang="en-US" sz="6000" spc="-120" kern="0" dirty="0">
                <a:solidFill>
                  <a:srgbClr val="FAFAFA"/>
                </a:solidFill>
                <a:latin typeface="DM Serif Display" pitchFamily="34" charset="0"/>
                <a:ea typeface="DM Serif Display" pitchFamily="34" charset="-122"/>
                <a:cs typeface="DM Serif Display" pitchFamily="34" charset="-120"/>
              </a:rPr>
              <a:t>Dónde se rompe el </a:t>
            </a:r>
            <a:pPr algn="l" indent="0" marL="0">
              <a:lnSpc>
                <a:spcPct val="108000"/>
              </a:lnSpc>
              <a:buNone/>
            </a:pPr>
            <a:r>
              <a:rPr lang="en-US" sz="6000" i="1" spc="-120" kern="0" dirty="0">
                <a:solidFill>
                  <a:srgbClr val="FAFAFA"/>
                </a:solidFill>
                <a:latin typeface="DM Serif Display" pitchFamily="34" charset="0"/>
                <a:ea typeface="DM Serif Display" pitchFamily="34" charset="-122"/>
                <a:cs typeface="DM Serif Display" pitchFamily="34" charset="-120"/>
              </a:rPr>
              <a:t>pipeline</a:t>
            </a:r>
            <a:pPr algn="l" indent="0" marL="0">
              <a:lnSpc>
                <a:spcPct val="108000"/>
              </a:lnSpc>
              <a:buNone/>
            </a:pPr>
            <a:r>
              <a:rPr lang="en-US" sz="6000" spc="-120" kern="0" dirty="0">
                <a:solidFill>
                  <a:srgbClr val="FAFAFA"/>
                </a:solidFill>
                <a:latin typeface="DM Serif Display" pitchFamily="34" charset="0"/>
                <a:ea typeface="DM Serif Display" pitchFamily="34" charset="-122"/>
                <a:cs typeface="DM Serif Display" pitchFamily="34" charset="-120"/>
              </a:rPr>
              <a:t>.</a:t>
            </a:r>
            <a:endParaRPr lang="en-US" sz="6000" dirty="0"/>
          </a:p>
        </p:txBody>
      </p:sp>
      <p:sp>
        <p:nvSpPr>
          <p:cNvPr id="3" name="Shape 1"/>
          <p:cNvSpPr/>
          <p:nvPr/>
        </p:nvSpPr>
        <p:spPr>
          <a:xfrm>
            <a:off x="1524000" y="2500313"/>
            <a:ext cx="7162800" cy="9525"/>
          </a:xfrm>
          <a:prstGeom prst="rect">
            <a:avLst/>
          </a:prstGeom>
          <a:solidFill>
            <a:srgbClr val="FFFFFF">
              <a:alpha val="20000"/>
            </a:srgbClr>
          </a:solidFill>
          <a:ln/>
        </p:spPr>
      </p:sp>
      <p:sp>
        <p:nvSpPr>
          <p:cNvPr id="4" name="Text 2"/>
          <p:cNvSpPr/>
          <p:nvPr/>
        </p:nvSpPr>
        <p:spPr>
          <a:xfrm>
            <a:off x="1524000" y="2738438"/>
            <a:ext cx="7377684" cy="1409700"/>
          </a:xfrm>
          <a:prstGeom prst="rect">
            <a:avLst/>
          </a:prstGeom>
          <a:noFill/>
          <a:ln/>
        </p:spPr>
        <p:txBody>
          <a:bodyPr wrap="square" lIns="25400" tIns="25400" rIns="25400" bIns="25400" rtlCol="0" anchor="t">
            <a:normAutofit/>
          </a:bodyPr>
          <a:lstStyle/>
          <a:p>
            <a:pPr algn="l" indent="0" marL="0">
              <a:lnSpc>
                <a:spcPct val="90000"/>
              </a:lnSpc>
              <a:buNone/>
            </a:pPr>
            <a:r>
              <a:rPr lang="en-US" sz="12000" i="1" spc="-480" kern="0" dirty="0">
                <a:solidFill>
                  <a:srgbClr val="FFD600"/>
                </a:solidFill>
                <a:latin typeface="DM Serif Display" pitchFamily="34" charset="0"/>
                <a:ea typeface="DM Serif Display" pitchFamily="34" charset="-122"/>
                <a:cs typeface="DM Serif Display" pitchFamily="34" charset="-120"/>
              </a:rPr>
              <a:t>55%</a:t>
            </a:r>
            <a:endParaRPr lang="en-US" sz="12000" dirty="0"/>
          </a:p>
        </p:txBody>
      </p:sp>
      <p:sp>
        <p:nvSpPr>
          <p:cNvPr id="5" name="Text 3"/>
          <p:cNvSpPr/>
          <p:nvPr/>
        </p:nvSpPr>
        <p:spPr>
          <a:xfrm>
            <a:off x="1524000" y="4338638"/>
            <a:ext cx="7377684" cy="381000"/>
          </a:xfrm>
          <a:prstGeom prst="rect">
            <a:avLst/>
          </a:prstGeom>
          <a:noFill/>
          <a:ln/>
        </p:spPr>
        <p:txBody>
          <a:bodyPr wrap="square" lIns="25400" tIns="25400" rIns="25400" bIns="25400" rtlCol="0" anchor="t">
            <a:normAutofit/>
          </a:bodyPr>
          <a:lstStyle/>
          <a:p>
            <a:pPr algn="l" indent="0" marL="0">
              <a:buNone/>
            </a:pPr>
            <a:r>
              <a:rPr lang="en-US" sz="2250" spc="225" kern="0" dirty="0">
                <a:solidFill>
                  <a:srgbClr val="FAFAFA"/>
                </a:solidFill>
                <a:latin typeface="PP Neue Montreal" pitchFamily="34" charset="0"/>
                <a:ea typeface="PP Neue Montreal" pitchFamily="34" charset="-122"/>
                <a:cs typeface="PP Neue Montreal" pitchFamily="34" charset="-120"/>
              </a:rPr>
              <a:t>RECONOCIMIENTO</a:t>
            </a:r>
            <a:endParaRPr lang="en-US" sz="2250" dirty="0"/>
          </a:p>
        </p:txBody>
      </p:sp>
      <p:sp>
        <p:nvSpPr>
          <p:cNvPr id="6" name="Text 4"/>
          <p:cNvSpPr/>
          <p:nvPr/>
        </p:nvSpPr>
        <p:spPr>
          <a:xfrm>
            <a:off x="1524000" y="4795838"/>
            <a:ext cx="7377684"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999999"/>
                </a:solidFill>
                <a:latin typeface="PP Neue Montreal" pitchFamily="34" charset="0"/>
                <a:ea typeface="PP Neue Montreal" pitchFamily="34" charset="-122"/>
                <a:cs typeface="PP Neue Montreal" pitchFamily="34" charset="-120"/>
              </a:rPr>
              <a:t>Te conozco</a:t>
            </a:r>
            <a:endParaRPr lang="en-US" sz="2100" dirty="0"/>
          </a:p>
        </p:txBody>
      </p:sp>
      <p:sp>
        <p:nvSpPr>
          <p:cNvPr id="7" name="Shape 5"/>
          <p:cNvSpPr/>
          <p:nvPr/>
        </p:nvSpPr>
        <p:spPr>
          <a:xfrm>
            <a:off x="9601200" y="2500313"/>
            <a:ext cx="7162800" cy="9525"/>
          </a:xfrm>
          <a:prstGeom prst="rect">
            <a:avLst/>
          </a:prstGeom>
          <a:solidFill>
            <a:srgbClr val="FFFFFF">
              <a:alpha val="20000"/>
            </a:srgbClr>
          </a:solidFill>
          <a:ln/>
        </p:spPr>
      </p:sp>
      <p:sp>
        <p:nvSpPr>
          <p:cNvPr id="8" name="Text 6"/>
          <p:cNvSpPr/>
          <p:nvPr/>
        </p:nvSpPr>
        <p:spPr>
          <a:xfrm>
            <a:off x="9601200" y="2738438"/>
            <a:ext cx="7377684" cy="1409700"/>
          </a:xfrm>
          <a:prstGeom prst="rect">
            <a:avLst/>
          </a:prstGeom>
          <a:noFill/>
          <a:ln/>
        </p:spPr>
        <p:txBody>
          <a:bodyPr wrap="square" lIns="25400" tIns="25400" rIns="25400" bIns="25400" rtlCol="0" anchor="t">
            <a:normAutofit/>
          </a:bodyPr>
          <a:lstStyle/>
          <a:p>
            <a:pPr algn="l" indent="0" marL="0">
              <a:lnSpc>
                <a:spcPct val="90000"/>
              </a:lnSpc>
              <a:buNone/>
            </a:pPr>
            <a:r>
              <a:rPr lang="en-US" sz="12000" i="1" spc="-480" kern="0" dirty="0">
                <a:solidFill>
                  <a:srgbClr val="FFD600"/>
                </a:solidFill>
                <a:latin typeface="DM Serif Display" pitchFamily="34" charset="0"/>
                <a:ea typeface="DM Serif Display" pitchFamily="34" charset="-122"/>
                <a:cs typeface="DM Serif Display" pitchFamily="34" charset="-120"/>
              </a:rPr>
              <a:t>10%</a:t>
            </a:r>
            <a:endParaRPr lang="en-US" sz="12000" dirty="0"/>
          </a:p>
        </p:txBody>
      </p:sp>
      <p:sp>
        <p:nvSpPr>
          <p:cNvPr id="9" name="Text 7"/>
          <p:cNvSpPr/>
          <p:nvPr/>
        </p:nvSpPr>
        <p:spPr>
          <a:xfrm>
            <a:off x="9601200" y="4338638"/>
            <a:ext cx="7377684" cy="381000"/>
          </a:xfrm>
          <a:prstGeom prst="rect">
            <a:avLst/>
          </a:prstGeom>
          <a:noFill/>
          <a:ln/>
        </p:spPr>
        <p:txBody>
          <a:bodyPr wrap="square" lIns="25400" tIns="25400" rIns="25400" bIns="25400" rtlCol="0" anchor="t">
            <a:normAutofit/>
          </a:bodyPr>
          <a:lstStyle/>
          <a:p>
            <a:pPr algn="l" indent="0" marL="0">
              <a:buNone/>
            </a:pPr>
            <a:r>
              <a:rPr lang="en-US" sz="2250" spc="225" kern="0" dirty="0">
                <a:solidFill>
                  <a:srgbClr val="FAFAFA"/>
                </a:solidFill>
                <a:latin typeface="PP Neue Montreal" pitchFamily="34" charset="0"/>
                <a:ea typeface="PP Neue Montreal" pitchFamily="34" charset="-122"/>
                <a:cs typeface="PP Neue Montreal" pitchFamily="34" charset="-120"/>
              </a:rPr>
              <a:t>CREDIBILIDAD</a:t>
            </a:r>
            <a:endParaRPr lang="en-US" sz="2250" dirty="0"/>
          </a:p>
        </p:txBody>
      </p:sp>
      <p:sp>
        <p:nvSpPr>
          <p:cNvPr id="10" name="Text 8"/>
          <p:cNvSpPr/>
          <p:nvPr/>
        </p:nvSpPr>
        <p:spPr>
          <a:xfrm>
            <a:off x="9601200" y="4795838"/>
            <a:ext cx="7377684"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999999"/>
                </a:solidFill>
                <a:latin typeface="PP Neue Montreal" pitchFamily="34" charset="0"/>
                <a:ea typeface="PP Neue Montreal" pitchFamily="34" charset="-122"/>
                <a:cs typeface="PP Neue Montreal" pitchFamily="34" charset="-120"/>
              </a:rPr>
              <a:t>Me pareces serio</a:t>
            </a:r>
            <a:endParaRPr lang="en-US" sz="2100" dirty="0"/>
          </a:p>
        </p:txBody>
      </p:sp>
      <p:sp>
        <p:nvSpPr>
          <p:cNvPr id="11" name="Shape 9"/>
          <p:cNvSpPr/>
          <p:nvPr/>
        </p:nvSpPr>
        <p:spPr>
          <a:xfrm>
            <a:off x="1524000" y="5931098"/>
            <a:ext cx="7162800" cy="28575"/>
          </a:xfrm>
          <a:prstGeom prst="rect">
            <a:avLst/>
          </a:prstGeom>
          <a:solidFill>
            <a:srgbClr val="FFD600"/>
          </a:solidFill>
          <a:ln/>
        </p:spPr>
      </p:sp>
      <p:sp>
        <p:nvSpPr>
          <p:cNvPr id="12" name="Text 10"/>
          <p:cNvSpPr/>
          <p:nvPr/>
        </p:nvSpPr>
        <p:spPr>
          <a:xfrm>
            <a:off x="1524000" y="6188273"/>
            <a:ext cx="7377684" cy="1409700"/>
          </a:xfrm>
          <a:prstGeom prst="rect">
            <a:avLst/>
          </a:prstGeom>
          <a:noFill/>
          <a:ln/>
        </p:spPr>
        <p:txBody>
          <a:bodyPr wrap="square" lIns="25400" tIns="25400" rIns="25400" bIns="25400" rtlCol="0" anchor="t">
            <a:normAutofit/>
          </a:bodyPr>
          <a:lstStyle/>
          <a:p>
            <a:pPr algn="l" indent="0" marL="0">
              <a:lnSpc>
                <a:spcPct val="90000"/>
              </a:lnSpc>
              <a:buNone/>
            </a:pPr>
            <a:r>
              <a:rPr lang="en-US" sz="12000" i="1" spc="-480" kern="0" dirty="0">
                <a:solidFill>
                  <a:srgbClr val="FFD600"/>
                </a:solidFill>
                <a:latin typeface="DM Serif Display" pitchFamily="34" charset="0"/>
                <a:ea typeface="DM Serif Display" pitchFamily="34" charset="-122"/>
                <a:cs typeface="DM Serif Display" pitchFamily="34" charset="-120"/>
              </a:rPr>
              <a:t>5%</a:t>
            </a:r>
            <a:endParaRPr lang="en-US" sz="12000" dirty="0"/>
          </a:p>
        </p:txBody>
      </p:sp>
      <p:sp>
        <p:nvSpPr>
          <p:cNvPr id="13" name="Text 11"/>
          <p:cNvSpPr/>
          <p:nvPr/>
        </p:nvSpPr>
        <p:spPr>
          <a:xfrm>
            <a:off x="1524000" y="7788473"/>
            <a:ext cx="7377684" cy="381000"/>
          </a:xfrm>
          <a:prstGeom prst="rect">
            <a:avLst/>
          </a:prstGeom>
          <a:noFill/>
          <a:ln/>
        </p:spPr>
        <p:txBody>
          <a:bodyPr wrap="square" lIns="25400" tIns="25400" rIns="25400" bIns="25400" rtlCol="0" anchor="t">
            <a:normAutofit/>
          </a:bodyPr>
          <a:lstStyle/>
          <a:p>
            <a:pPr algn="l" indent="0" marL="0">
              <a:buNone/>
            </a:pPr>
            <a:r>
              <a:rPr lang="en-US" sz="2250" spc="225" kern="0" dirty="0">
                <a:solidFill>
                  <a:srgbClr val="FAFAFA"/>
                </a:solidFill>
                <a:latin typeface="PP Neue Montreal" pitchFamily="34" charset="0"/>
                <a:ea typeface="PP Neue Montreal" pitchFamily="34" charset="-122"/>
                <a:cs typeface="PP Neue Montreal" pitchFamily="34" charset="-120"/>
              </a:rPr>
              <a:t>REDUCCIÓN DE RIESGO</a:t>
            </a:r>
            <a:endParaRPr lang="en-US" sz="2250" dirty="0"/>
          </a:p>
        </p:txBody>
      </p:sp>
      <p:sp>
        <p:nvSpPr>
          <p:cNvPr id="14" name="Text 12"/>
          <p:cNvSpPr/>
          <p:nvPr/>
        </p:nvSpPr>
        <p:spPr>
          <a:xfrm>
            <a:off x="1524000" y="8245673"/>
            <a:ext cx="7377684"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999999"/>
                </a:solidFill>
                <a:latin typeface="PP Neue Montreal" pitchFamily="34" charset="0"/>
                <a:ea typeface="PP Neue Montreal" pitchFamily="34" charset="-122"/>
                <a:cs typeface="PP Neue Montreal" pitchFamily="34" charset="-120"/>
              </a:rPr>
              <a:t>Confío lo bastante</a:t>
            </a:r>
            <a:endParaRPr lang="en-US" sz="2100" dirty="0"/>
          </a:p>
        </p:txBody>
      </p:sp>
      <p:sp>
        <p:nvSpPr>
          <p:cNvPr id="15" name="Shape 13"/>
          <p:cNvSpPr/>
          <p:nvPr/>
        </p:nvSpPr>
        <p:spPr>
          <a:xfrm>
            <a:off x="9601200" y="5931098"/>
            <a:ext cx="7162800" cy="9525"/>
          </a:xfrm>
          <a:prstGeom prst="rect">
            <a:avLst/>
          </a:prstGeom>
          <a:solidFill>
            <a:srgbClr val="FFFFFF">
              <a:alpha val="20000"/>
            </a:srgbClr>
          </a:solidFill>
          <a:ln/>
        </p:spPr>
      </p:sp>
      <p:sp>
        <p:nvSpPr>
          <p:cNvPr id="16" name="Text 14"/>
          <p:cNvSpPr/>
          <p:nvPr/>
        </p:nvSpPr>
        <p:spPr>
          <a:xfrm>
            <a:off x="9601200" y="6169223"/>
            <a:ext cx="7377684" cy="1409700"/>
          </a:xfrm>
          <a:prstGeom prst="rect">
            <a:avLst/>
          </a:prstGeom>
          <a:noFill/>
          <a:ln/>
        </p:spPr>
        <p:txBody>
          <a:bodyPr wrap="square" lIns="25400" tIns="25400" rIns="25400" bIns="25400" rtlCol="0" anchor="t">
            <a:normAutofit/>
          </a:bodyPr>
          <a:lstStyle/>
          <a:p>
            <a:pPr algn="l" indent="0" marL="0">
              <a:lnSpc>
                <a:spcPct val="90000"/>
              </a:lnSpc>
              <a:buNone/>
            </a:pPr>
            <a:r>
              <a:rPr lang="en-US" sz="12000" i="1" spc="-480" kern="0" dirty="0">
                <a:solidFill>
                  <a:srgbClr val="FFD600"/>
                </a:solidFill>
                <a:latin typeface="DM Serif Display" pitchFamily="34" charset="0"/>
                <a:ea typeface="DM Serif Display" pitchFamily="34" charset="-122"/>
                <a:cs typeface="DM Serif Display" pitchFamily="34" charset="-120"/>
              </a:rPr>
              <a:t>30%</a:t>
            </a:r>
            <a:endParaRPr lang="en-US" sz="12000" dirty="0"/>
          </a:p>
        </p:txBody>
      </p:sp>
      <p:sp>
        <p:nvSpPr>
          <p:cNvPr id="17" name="Text 15"/>
          <p:cNvSpPr/>
          <p:nvPr/>
        </p:nvSpPr>
        <p:spPr>
          <a:xfrm>
            <a:off x="9601200" y="7769423"/>
            <a:ext cx="7377684" cy="381000"/>
          </a:xfrm>
          <a:prstGeom prst="rect">
            <a:avLst/>
          </a:prstGeom>
          <a:noFill/>
          <a:ln/>
        </p:spPr>
        <p:txBody>
          <a:bodyPr wrap="square" lIns="25400" tIns="25400" rIns="25400" bIns="25400" rtlCol="0" anchor="t">
            <a:normAutofit/>
          </a:bodyPr>
          <a:lstStyle/>
          <a:p>
            <a:pPr algn="l" indent="0" marL="0">
              <a:buNone/>
            </a:pPr>
            <a:r>
              <a:rPr lang="en-US" sz="2250" spc="225" kern="0" dirty="0">
                <a:solidFill>
                  <a:srgbClr val="FAFAFA"/>
                </a:solidFill>
                <a:latin typeface="PP Neue Montreal" pitchFamily="34" charset="0"/>
                <a:ea typeface="PP Neue Montreal" pitchFamily="34" charset="-122"/>
                <a:cs typeface="PP Neue Montreal" pitchFamily="34" charset="-120"/>
              </a:rPr>
              <a:t>COMPROMISO</a:t>
            </a:r>
            <a:endParaRPr lang="en-US" sz="2250" dirty="0"/>
          </a:p>
        </p:txBody>
      </p:sp>
      <p:sp>
        <p:nvSpPr>
          <p:cNvPr id="18" name="Text 16"/>
          <p:cNvSpPr/>
          <p:nvPr/>
        </p:nvSpPr>
        <p:spPr>
          <a:xfrm>
            <a:off x="9601200" y="8226623"/>
            <a:ext cx="7377684"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999999"/>
                </a:solidFill>
                <a:latin typeface="PP Neue Montreal" pitchFamily="34" charset="0"/>
                <a:ea typeface="PP Neue Montreal" pitchFamily="34" charset="-122"/>
                <a:cs typeface="PP Neue Montreal" pitchFamily="34" charset="-120"/>
              </a:rPr>
              <a:t>Compro / contacto</a:t>
            </a:r>
            <a:endParaRPr lang="en-US" sz="2100" dirty="0"/>
          </a:p>
        </p:txBody>
      </p:sp>
      <p:sp>
        <p:nvSpPr>
          <p:cNvPr id="19" name="Text 17"/>
          <p:cNvSpPr/>
          <p:nvPr/>
        </p:nvSpPr>
        <p:spPr>
          <a:xfrm>
            <a:off x="1524000" y="9228534"/>
            <a:ext cx="15697200"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666666"/>
                </a:solidFill>
                <a:latin typeface="PP Neue Montreal" pitchFamily="34" charset="0"/>
                <a:ea typeface="PP Neue Montreal" pitchFamily="34" charset="-122"/>
                <a:cs typeface="PP Neue Montreal" pitchFamily="34" charset="-120"/>
              </a:rPr>
              <a:t>Ayush Poddar · Trust Architecture</a:t>
            </a:r>
            <a:endParaRPr lang="en-US" sz="1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1524000" y="1957685"/>
            <a:ext cx="14716125" cy="778669"/>
          </a:xfrm>
          <a:prstGeom prst="rect">
            <a:avLst/>
          </a:prstGeom>
          <a:noFill/>
          <a:ln/>
        </p:spPr>
        <p:txBody>
          <a:bodyPr wrap="square" lIns="25400" tIns="25400" rIns="25400" bIns="25400" rtlCol="0" anchor="t">
            <a:normAutofit/>
          </a:bodyPr>
          <a:lstStyle/>
          <a:p>
            <a:pPr algn="l" indent="0" marL="0">
              <a:lnSpc>
                <a:spcPct val="108000"/>
              </a:lnSpc>
              <a:buNone/>
            </a:pPr>
            <a:r>
              <a:rPr lang="en-US" sz="5400" spc="-108" kern="0" dirty="0">
                <a:solidFill>
                  <a:srgbClr val="FAFAFA"/>
                </a:solidFill>
                <a:latin typeface="DM Serif Display" pitchFamily="34" charset="0"/>
                <a:ea typeface="DM Serif Display" pitchFamily="34" charset="-122"/>
                <a:cs typeface="DM Serif Display" pitchFamily="34" charset="-120"/>
              </a:rPr>
              <a:t>El punto de </a:t>
            </a:r>
            <a:pPr algn="l" indent="0" marL="0">
              <a:lnSpc>
                <a:spcPct val="108000"/>
              </a:lnSpc>
              <a:buNone/>
            </a:pPr>
            <a:r>
              <a:rPr lang="en-US" sz="5400" i="1" spc="-108" kern="0" dirty="0">
                <a:solidFill>
                  <a:srgbClr val="FAFAFA"/>
                </a:solidFill>
                <a:latin typeface="DM Serif Display" pitchFamily="34" charset="0"/>
                <a:ea typeface="DM Serif Display" pitchFamily="34" charset="-122"/>
                <a:cs typeface="DM Serif Display" pitchFamily="34" charset="-120"/>
              </a:rPr>
              <a:t>partida</a:t>
            </a:r>
            <a:pPr algn="l" indent="0" marL="0">
              <a:lnSpc>
                <a:spcPct val="108000"/>
              </a:lnSpc>
              <a:buNone/>
            </a:pPr>
            <a:r>
              <a:rPr lang="en-US" sz="5400" spc="-108" kern="0" dirty="0">
                <a:solidFill>
                  <a:srgbClr val="FAFAFA"/>
                </a:solidFill>
                <a:latin typeface="DM Serif Display" pitchFamily="34" charset="0"/>
                <a:ea typeface="DM Serif Display" pitchFamily="34" charset="-122"/>
                <a:cs typeface="DM Serif Display" pitchFamily="34" charset="-120"/>
              </a:rPr>
              <a:t>.</a:t>
            </a:r>
            <a:endParaRPr lang="en-US" sz="5400" dirty="0"/>
          </a:p>
        </p:txBody>
      </p:sp>
      <p:sp>
        <p:nvSpPr>
          <p:cNvPr id="3" name="Text 1"/>
          <p:cNvSpPr/>
          <p:nvPr/>
        </p:nvSpPr>
        <p:spPr>
          <a:xfrm>
            <a:off x="1524000" y="3612654"/>
            <a:ext cx="7058835" cy="428625"/>
          </a:xfrm>
          <a:prstGeom prst="rect">
            <a:avLst/>
          </a:prstGeom>
          <a:noFill/>
          <a:ln/>
        </p:spPr>
        <p:txBody>
          <a:bodyPr wrap="square" lIns="25400" tIns="25400" rIns="25400" bIns="25400" rtlCol="0" anchor="t">
            <a:normAutofit/>
          </a:bodyPr>
          <a:lstStyle/>
          <a:p>
            <a:pPr algn="l" indent="0" marL="0">
              <a:buNone/>
            </a:pPr>
            <a:r>
              <a:rPr lang="en-US" sz="2550" spc="383" kern="0" dirty="0">
                <a:solidFill>
                  <a:srgbClr val="999999"/>
                </a:solidFill>
                <a:latin typeface="PP Neue Montreal" pitchFamily="34" charset="0"/>
                <a:ea typeface="PP Neue Montreal" pitchFamily="34" charset="-122"/>
                <a:cs typeface="PP Neue Montreal" pitchFamily="34" charset="-120"/>
              </a:rPr>
              <a:t>HOY</a:t>
            </a:r>
            <a:endParaRPr lang="en-US" sz="2550" dirty="0"/>
          </a:p>
        </p:txBody>
      </p:sp>
      <p:sp>
        <p:nvSpPr>
          <p:cNvPr id="4" name="Text 2"/>
          <p:cNvSpPr/>
          <p:nvPr/>
        </p:nvSpPr>
        <p:spPr>
          <a:xfrm>
            <a:off x="1310640" y="4460379"/>
            <a:ext cx="7142798" cy="3907036"/>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FAFAFA"/>
                </a:solidFill>
                <a:latin typeface="PP Neue Montreal" pitchFamily="34" charset="0"/>
                <a:ea typeface="PP Neue Montreal" pitchFamily="34" charset="-122"/>
                <a:cs typeface="PP Neue Montreal" pitchFamily="34" charset="-120"/>
              </a:rPr>
              <a:t>Keyword research por volumen</a:t>
            </a:r>
            <a:endParaRPr lang="en-US" sz="2400" dirty="0"/>
          </a:p>
          <a:p>
            <a:pPr algn="l" indent="0" marL="0">
              <a:lnSpc>
                <a:spcPct val="140000"/>
              </a:lnSpc>
              <a:buNone/>
            </a:pPr>
            <a:r>
              <a:rPr lang="en-US" sz="2400" dirty="0">
                <a:solidFill>
                  <a:srgbClr val="FAFAFA"/>
                </a:solidFill>
                <a:latin typeface="PP Neue Montreal" pitchFamily="34" charset="0"/>
                <a:ea typeface="PP Neue Montreal" pitchFamily="34" charset="-122"/>
                <a:cs typeface="PP Neue Montreal" pitchFamily="34" charset="-120"/>
              </a:rPr>
              <a:t>Lista de 2.400 búsquedas/mes con KD 34</a:t>
            </a:r>
            <a:endParaRPr lang="en-US" sz="2400" dirty="0"/>
          </a:p>
          <a:p>
            <a:pPr algn="l" indent="0" marL="0">
              <a:lnSpc>
                <a:spcPct val="140000"/>
              </a:lnSpc>
              <a:buNone/>
            </a:pPr>
            <a:r>
              <a:rPr lang="en-US" sz="2400" dirty="0">
                <a:solidFill>
                  <a:srgbClr val="FAFAFA"/>
                </a:solidFill>
                <a:latin typeface="PP Neue Montreal" pitchFamily="34" charset="0"/>
                <a:ea typeface="PP Neue Montreal" pitchFamily="34" charset="-122"/>
                <a:cs typeface="PP Neue Montreal" pitchFamily="34" charset="-120"/>
              </a:rPr>
              <a:t>Briefing al redactor</a:t>
            </a:r>
            <a:endParaRPr lang="en-US" sz="2400" dirty="0"/>
          </a:p>
          <a:p>
            <a:pPr algn="l" indent="0" marL="0">
              <a:lnSpc>
                <a:spcPct val="140000"/>
              </a:lnSpc>
              <a:buNone/>
            </a:pPr>
            <a:r>
              <a:rPr lang="en-US" sz="2400" dirty="0">
                <a:solidFill>
                  <a:srgbClr val="FAFAFA"/>
                </a:solidFill>
                <a:latin typeface="PP Neue Montreal" pitchFamily="34" charset="0"/>
                <a:ea typeface="PP Neue Montreal" pitchFamily="34" charset="-122"/>
                <a:cs typeface="PP Neue Montreal" pitchFamily="34" charset="-120"/>
              </a:rPr>
              <a:t>Publicar y optimizar</a:t>
            </a:r>
            <a:endParaRPr lang="en-US" sz="2400" dirty="0"/>
          </a:p>
        </p:txBody>
      </p:sp>
      <p:sp>
        <p:nvSpPr>
          <p:cNvPr id="5" name="Shape 3"/>
          <p:cNvSpPr/>
          <p:nvPr/>
        </p:nvSpPr>
        <p:spPr>
          <a:xfrm>
            <a:off x="9139238" y="3612654"/>
            <a:ext cx="9525" cy="4716661"/>
          </a:xfrm>
          <a:prstGeom prst="rect">
            <a:avLst/>
          </a:prstGeom>
          <a:solidFill>
            <a:srgbClr val="FFFFFF">
              <a:alpha val="12000"/>
            </a:srgbClr>
          </a:solidFill>
          <a:ln/>
        </p:spPr>
      </p:sp>
      <p:sp>
        <p:nvSpPr>
          <p:cNvPr id="6" name="Text 4"/>
          <p:cNvSpPr/>
          <p:nvPr/>
        </p:nvSpPr>
        <p:spPr>
          <a:xfrm>
            <a:off x="9910763" y="3612654"/>
            <a:ext cx="7058835" cy="428625"/>
          </a:xfrm>
          <a:prstGeom prst="rect">
            <a:avLst/>
          </a:prstGeom>
          <a:noFill/>
          <a:ln/>
        </p:spPr>
        <p:txBody>
          <a:bodyPr wrap="square" lIns="25400" tIns="25400" rIns="25400" bIns="25400" rtlCol="0" anchor="t">
            <a:normAutofit/>
          </a:bodyPr>
          <a:lstStyle/>
          <a:p>
            <a:pPr algn="l" indent="0" marL="0">
              <a:buNone/>
            </a:pPr>
            <a:r>
              <a:rPr lang="en-US" sz="2550" spc="383" kern="0" dirty="0">
                <a:solidFill>
                  <a:srgbClr val="FFD600"/>
                </a:solidFill>
                <a:latin typeface="PP Neue Montreal" pitchFamily="34" charset="0"/>
                <a:ea typeface="PP Neue Montreal" pitchFamily="34" charset="-122"/>
                <a:cs typeface="PP Neue Montreal" pitchFamily="34" charset="-120"/>
              </a:rPr>
              <a:t>DEBERÍAMOS</a:t>
            </a:r>
            <a:endParaRPr lang="en-US" sz="2550" dirty="0"/>
          </a:p>
        </p:txBody>
      </p:sp>
      <p:sp>
        <p:nvSpPr>
          <p:cNvPr id="7" name="Text 5"/>
          <p:cNvSpPr/>
          <p:nvPr/>
        </p:nvSpPr>
        <p:spPr>
          <a:xfrm>
            <a:off x="9697403" y="4460379"/>
            <a:ext cx="7142798" cy="3907036"/>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FAFAFA"/>
                </a:solidFill>
                <a:latin typeface="PP Neue Montreal" pitchFamily="34" charset="0"/>
                <a:ea typeface="PP Neue Montreal" pitchFamily="34" charset="-122"/>
                <a:cs typeface="PP Neue Montreal" pitchFamily="34" charset="-120"/>
              </a:rPr>
              <a:t>Entrevistas a 5 clientes reales</a:t>
            </a:r>
            <a:endParaRPr lang="en-US" sz="2400" dirty="0"/>
          </a:p>
          <a:p>
            <a:pPr algn="l" indent="0" marL="0">
              <a:lnSpc>
                <a:spcPct val="140000"/>
              </a:lnSpc>
              <a:buNone/>
            </a:pPr>
            <a:r>
              <a:rPr lang="en-US" sz="2400" dirty="0">
                <a:solidFill>
                  <a:srgbClr val="FAFAFA"/>
                </a:solidFill>
                <a:latin typeface="PP Neue Montreal" pitchFamily="34" charset="0"/>
                <a:ea typeface="PP Neue Montreal" pitchFamily="34" charset="-122"/>
                <a:cs typeface="PP Neue Montreal" pitchFamily="34" charset="-120"/>
              </a:rPr>
              <a:t>Preguntas que hacen, en sus palabras</a:t>
            </a:r>
            <a:endParaRPr lang="en-US" sz="2400" dirty="0"/>
          </a:p>
          <a:p>
            <a:pPr algn="l" indent="0" marL="0">
              <a:lnSpc>
                <a:spcPct val="140000"/>
              </a:lnSpc>
              <a:buNone/>
            </a:pPr>
            <a:r>
              <a:rPr lang="en-US" sz="2400" dirty="0">
                <a:solidFill>
                  <a:srgbClr val="FAFAFA"/>
                </a:solidFill>
                <a:latin typeface="PP Neue Montreal" pitchFamily="34" charset="0"/>
                <a:ea typeface="PP Neue Montreal" pitchFamily="34" charset="-122"/>
                <a:cs typeface="PP Neue Montreal" pitchFamily="34" charset="-120"/>
              </a:rPr>
              <a:t>Mapeo a las 4 etapas de confianza</a:t>
            </a:r>
            <a:endParaRPr lang="en-US" sz="2400" dirty="0"/>
          </a:p>
          <a:p>
            <a:pPr algn="l" indent="0" marL="0">
              <a:lnSpc>
                <a:spcPct val="140000"/>
              </a:lnSpc>
              <a:buNone/>
            </a:pPr>
            <a:r>
              <a:rPr lang="en-US" sz="2400" dirty="0">
                <a:solidFill>
                  <a:srgbClr val="FAFAFA"/>
                </a:solidFill>
                <a:latin typeface="PP Neue Montreal" pitchFamily="34" charset="0"/>
                <a:ea typeface="PP Neue Montreal" pitchFamily="34" charset="-122"/>
                <a:cs typeface="PP Neue Montreal" pitchFamily="34" charset="-120"/>
              </a:rPr>
              <a:t>Prioridad por pipeline, no por volumen</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1524000" y="4598343"/>
            <a:ext cx="4015049" cy="1128415"/>
          </a:xfrm>
          <a:prstGeom prst="rect">
            <a:avLst/>
          </a:prstGeom>
          <a:noFill/>
          <a:ln/>
        </p:spPr>
        <p:txBody>
          <a:bodyPr wrap="square" lIns="25400" tIns="25400" rIns="25400" bIns="25400" rtlCol="0" anchor="t">
            <a:normAutofit/>
          </a:bodyPr>
          <a:lstStyle/>
          <a:p>
            <a:pPr algn="l" indent="0" marL="0">
              <a:lnSpc>
                <a:spcPct val="106000"/>
              </a:lnSpc>
              <a:buNone/>
            </a:pPr>
            <a:r>
              <a:rPr lang="en-US" sz="8100" spc="-162" kern="0" dirty="0">
                <a:solidFill>
                  <a:srgbClr val="FAFAFA"/>
                </a:solidFill>
                <a:latin typeface="DM Serif Display" pitchFamily="34" charset="0"/>
                <a:ea typeface="DM Serif Display" pitchFamily="34" charset="-122"/>
                <a:cs typeface="DM Serif Display" pitchFamily="34" charset="-120"/>
              </a:rPr>
              <a:t>El </a:t>
            </a:r>
            <a:pPr algn="l" indent="0" marL="0">
              <a:lnSpc>
                <a:spcPct val="106000"/>
              </a:lnSpc>
              <a:buNone/>
            </a:pPr>
            <a:r>
              <a:rPr lang="en-US" sz="8100" i="1" spc="-162" kern="0" dirty="0">
                <a:solidFill>
                  <a:srgbClr val="FAFAFA"/>
                </a:solidFill>
                <a:latin typeface="DM Serif Display" pitchFamily="34" charset="0"/>
                <a:ea typeface="DM Serif Display" pitchFamily="34" charset="-122"/>
                <a:cs typeface="DM Serif Display" pitchFamily="34" charset="-120"/>
              </a:rPr>
              <a:t>espejo</a:t>
            </a:r>
            <a:pPr algn="l" indent="0" marL="0">
              <a:lnSpc>
                <a:spcPct val="106000"/>
              </a:lnSpc>
              <a:buNone/>
            </a:pPr>
            <a:r>
              <a:rPr lang="en-US" sz="8100" spc="-162" kern="0" dirty="0">
                <a:solidFill>
                  <a:srgbClr val="FAFAFA"/>
                </a:solidFill>
                <a:latin typeface="DM Serif Display" pitchFamily="34" charset="0"/>
                <a:ea typeface="DM Serif Display" pitchFamily="34" charset="-122"/>
                <a:cs typeface="DM Serif Display" pitchFamily="34" charset="-120"/>
              </a:rPr>
              <a:t>.</a:t>
            </a:r>
            <a:endParaRPr lang="en-US" sz="8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D600"/>
        </a:solidFill>
      </p:bgPr>
    </p:bg>
    <p:spTree>
      <p:nvGrpSpPr>
        <p:cNvPr id="1" name=""/>
        <p:cNvGrpSpPr/>
        <p:nvPr/>
      </p:nvGrpSpPr>
      <p:grpSpPr>
        <a:xfrm>
          <a:off x="0" y="0"/>
          <a:ext cx="0" cy="0"/>
          <a:chOff x="0" y="0"/>
          <a:chExt cx="0" cy="0"/>
        </a:xfrm>
      </p:grpSpPr>
      <p:sp>
        <p:nvSpPr>
          <p:cNvPr id="2" name="Text 0"/>
          <p:cNvSpPr/>
          <p:nvPr/>
        </p:nvSpPr>
        <p:spPr>
          <a:xfrm>
            <a:off x="1524000" y="3495973"/>
            <a:ext cx="3374285" cy="771525"/>
          </a:xfrm>
          <a:prstGeom prst="rect">
            <a:avLst/>
          </a:prstGeom>
          <a:noFill/>
          <a:ln/>
        </p:spPr>
        <p:txBody>
          <a:bodyPr wrap="square" lIns="25400" tIns="25400" rIns="25400" bIns="25400" rtlCol="0" anchor="t">
            <a:normAutofit/>
          </a:bodyPr>
          <a:lstStyle/>
          <a:p>
            <a:pPr algn="l" indent="0" marL="0">
              <a:buNone/>
            </a:pPr>
            <a:r>
              <a:rPr lang="en-US" sz="4200" i="1" spc="84" kern="0" dirty="0">
                <a:solidFill>
                  <a:srgbClr val="0A0A0A">
                    <a:alpha val="55000"/>
                  </a:srgbClr>
                </a:solidFill>
                <a:latin typeface="DM Serif Display" pitchFamily="34" charset="0"/>
                <a:ea typeface="DM Serif Display" pitchFamily="34" charset="-122"/>
                <a:cs typeface="DM Serif Display" pitchFamily="34" charset="-120"/>
              </a:rPr>
              <a:t>Γνῶθι σεαυτόν</a:t>
            </a:r>
            <a:endParaRPr lang="en-US" sz="4200" dirty="0"/>
          </a:p>
        </p:txBody>
      </p:sp>
      <p:sp>
        <p:nvSpPr>
          <p:cNvPr id="3" name="Text 1"/>
          <p:cNvSpPr/>
          <p:nvPr/>
        </p:nvSpPr>
        <p:spPr>
          <a:xfrm>
            <a:off x="1524000" y="4610398"/>
            <a:ext cx="4806501" cy="2218730"/>
          </a:xfrm>
          <a:prstGeom prst="rect">
            <a:avLst/>
          </a:prstGeom>
          <a:noFill/>
          <a:ln/>
        </p:spPr>
        <p:txBody>
          <a:bodyPr wrap="square" lIns="25400" tIns="25400" rIns="25400" bIns="25400" rtlCol="0" anchor="t">
            <a:normAutofit/>
          </a:bodyPr>
          <a:lstStyle/>
          <a:p>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Conócete a ti </a:t>
            </a:r>
            <a:pPr algn="l" indent="0" marL="0">
              <a:lnSpc>
                <a:spcPct val="106000"/>
              </a:lnSpc>
              <a:buNone/>
            </a:pPr>
            <a:r>
              <a:rPr lang="en-US" sz="8100" i="1" spc="-162" kern="0" dirty="0">
                <a:solidFill>
                  <a:srgbClr val="0A0A0A"/>
                </a:solidFill>
                <a:latin typeface="DM Serif Display" pitchFamily="34" charset="0"/>
                <a:ea typeface="DM Serif Display" pitchFamily="34" charset="-122"/>
                <a:cs typeface="DM Serif Display" pitchFamily="34" charset="-120"/>
              </a:rPr>
              <a:t>mismo</a:t>
            </a:r>
            <a:pPr algn="l" indent="0" marL="0">
              <a:lnSpc>
                <a:spcPct val="106000"/>
              </a:lnSpc>
              <a:buNone/>
            </a:pPr>
            <a:r>
              <a:rPr lang="en-US" sz="8100" spc="-162" kern="0" dirty="0">
                <a:solidFill>
                  <a:srgbClr val="0A0A0A"/>
                </a:solidFill>
                <a:latin typeface="DM Serif Display" pitchFamily="34" charset="0"/>
                <a:ea typeface="DM Serif Display" pitchFamily="34" charset="-122"/>
                <a:cs typeface="DM Serif Display" pitchFamily="34" charset="-120"/>
              </a:rPr>
              <a:t>.</a:t>
            </a:r>
            <a:endParaRPr lang="en-US" sz="8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1524000" y="4073723"/>
            <a:ext cx="8050487" cy="2177653"/>
          </a:xfrm>
          <a:prstGeom prst="rect">
            <a:avLst/>
          </a:prstGeom>
          <a:noFill/>
          <a:ln/>
        </p:spPr>
        <p:txBody>
          <a:bodyPr wrap="square" lIns="25400" tIns="25400" rIns="25400" bIns="25400" rtlCol="0" anchor="t">
            <a:normAutofit/>
          </a:bodyPr>
          <a:lstStyle/>
          <a:p>
            <a:pPr algn="l" indent="0" marL="0">
              <a:lnSpc>
                <a:spcPct val="108000"/>
              </a:lnSpc>
              <a:buNone/>
            </a:pPr>
            <a:r>
              <a:rPr lang="en-US" sz="7800" spc="-156" kern="0" dirty="0">
                <a:solidFill>
                  <a:srgbClr val="FAFAFA"/>
                </a:solidFill>
                <a:latin typeface="DM Serif Display" pitchFamily="34" charset="0"/>
                <a:ea typeface="DM Serif Display" pitchFamily="34" charset="-122"/>
                <a:cs typeface="DM Serif Display" pitchFamily="34" charset="-120"/>
              </a:rPr>
              <a:t>El síntoma es SEO. La causa es </a:t>
            </a:r>
            <a:pPr algn="l" indent="0" marL="0">
              <a:lnSpc>
                <a:spcPct val="108000"/>
              </a:lnSpc>
              <a:buNone/>
            </a:pPr>
            <a:r>
              <a:rPr lang="en-US" sz="7800" i="1" spc="-156" kern="0" dirty="0">
                <a:solidFill>
                  <a:srgbClr val="FAFAFA"/>
                </a:solidFill>
                <a:latin typeface="DM Serif Display" pitchFamily="34" charset="0"/>
                <a:ea typeface="DM Serif Display" pitchFamily="34" charset="-122"/>
                <a:cs typeface="DM Serif Display" pitchFamily="34" charset="-120"/>
              </a:rPr>
              <a:t>marca</a:t>
            </a:r>
            <a:pPr algn="l" indent="0" marL="0">
              <a:lnSpc>
                <a:spcPct val="108000"/>
              </a:lnSpc>
              <a:buNone/>
            </a:pPr>
            <a:r>
              <a:rPr lang="en-US" sz="7800" spc="-156" kern="0" dirty="0">
                <a:solidFill>
                  <a:srgbClr val="FAFAFA"/>
                </a:solidFill>
                <a:latin typeface="DM Serif Display" pitchFamily="34" charset="0"/>
                <a:ea typeface="DM Serif Display" pitchFamily="34" charset="-122"/>
                <a:cs typeface="DM Serif Display" pitchFamily="34" charset="-120"/>
              </a:rPr>
              <a:t>.</a:t>
            </a:r>
            <a:endParaRPr lang="en-US" sz="7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7048500" y="0"/>
            <a:ext cx="11239500" cy="10287000"/>
          </a:xfrm>
          <a:prstGeom prst="rect">
            <a:avLst/>
          </a:prstGeom>
          <a:solidFill>
            <a:srgbClr val="0A0A0A"/>
          </a:solidFill>
          <a:ln/>
        </p:spPr>
      </p:sp>
      <p:pic>
        <p:nvPicPr>
          <p:cNvPr id="3" name="Image 0" descr="preencoded.png">    </p:cNvPr>
          <p:cNvPicPr>
            <a:picLocks noChangeAspect="1"/>
          </p:cNvPicPr>
          <p:nvPr/>
        </p:nvPicPr>
        <p:blipFill>
          <a:blip r:embed="rId1"/>
          <a:srcRect l="0" r="0" t="0" b="0"/>
          <a:stretch/>
        </p:blipFill>
        <p:spPr>
          <a:xfrm>
            <a:off x="7048500" y="0"/>
            <a:ext cx="11239500" cy="10287000"/>
          </a:xfrm>
          <a:prstGeom prst="rect">
            <a:avLst/>
          </a:prstGeom>
        </p:spPr>
      </p:pic>
      <p:sp>
        <p:nvSpPr>
          <p:cNvPr id="4" name="Shape 1"/>
          <p:cNvSpPr/>
          <p:nvPr/>
        </p:nvSpPr>
        <p:spPr>
          <a:xfrm>
            <a:off x="0" y="0"/>
            <a:ext cx="7048500" cy="10287000"/>
          </a:xfrm>
          <a:prstGeom prst="rect">
            <a:avLst/>
          </a:prstGeom>
          <a:solidFill>
            <a:srgbClr val="0A0A0A"/>
          </a:solidFill>
          <a:ln/>
        </p:spPr>
      </p:sp>
      <p:sp>
        <p:nvSpPr>
          <p:cNvPr id="5" name="Text 2"/>
          <p:cNvSpPr/>
          <p:nvPr/>
        </p:nvSpPr>
        <p:spPr>
          <a:xfrm>
            <a:off x="762000" y="3241328"/>
            <a:ext cx="5690235" cy="381000"/>
          </a:xfrm>
          <a:prstGeom prst="rect">
            <a:avLst/>
          </a:prstGeom>
          <a:noFill/>
          <a:ln/>
        </p:spPr>
        <p:txBody>
          <a:bodyPr wrap="square" lIns="25400" tIns="25400" rIns="25400" bIns="25400" rtlCol="0" anchor="t">
            <a:normAutofit/>
          </a:bodyPr>
          <a:lstStyle/>
          <a:p>
            <a:pPr algn="l" indent="0" marL="0">
              <a:buNone/>
            </a:pPr>
            <a:r>
              <a:rPr lang="en-US" sz="2250" spc="405" kern="0" dirty="0">
                <a:solidFill>
                  <a:srgbClr val="999999"/>
                </a:solidFill>
                <a:latin typeface="PP Neue Montreal" pitchFamily="34" charset="0"/>
                <a:ea typeface="PP Neue Montreal" pitchFamily="34" charset="-122"/>
                <a:cs typeface="PP Neue Montreal" pitchFamily="34" charset="-120"/>
              </a:rPr>
              <a:t>HERRAMIENTA</a:t>
            </a:r>
            <a:endParaRPr lang="en-US" sz="2250" dirty="0"/>
          </a:p>
        </p:txBody>
      </p:sp>
      <p:sp>
        <p:nvSpPr>
          <p:cNvPr id="6" name="Text 3"/>
          <p:cNvSpPr/>
          <p:nvPr/>
        </p:nvSpPr>
        <p:spPr>
          <a:xfrm>
            <a:off x="762000" y="3812828"/>
            <a:ext cx="5690235" cy="1354634"/>
          </a:xfrm>
          <a:prstGeom prst="rect">
            <a:avLst/>
          </a:prstGeom>
          <a:noFill/>
          <a:ln/>
        </p:spPr>
        <p:txBody>
          <a:bodyPr wrap="square" lIns="25400" tIns="25400" rIns="25400" bIns="25400" rtlCol="0" anchor="t">
            <a:normAutofit/>
          </a:bodyPr>
          <a:lstStyle/>
          <a:p>
            <a:pPr algn="l" indent="0" marL="0">
              <a:lnSpc>
                <a:spcPct val="108000"/>
              </a:lnSpc>
              <a:buNone/>
            </a:pPr>
            <a:r>
              <a:rPr lang="en-US" sz="4800" spc="-96" kern="0" dirty="0">
                <a:solidFill>
                  <a:srgbClr val="FAFAFA"/>
                </a:solidFill>
                <a:latin typeface="DM Serif Display" pitchFamily="34" charset="0"/>
                <a:ea typeface="DM Serif Display" pitchFamily="34" charset="-122"/>
                <a:cs typeface="DM Serif Display" pitchFamily="34" charset="-120"/>
              </a:rPr>
              <a:t>Mírate antes de que lo haga la </a:t>
            </a:r>
            <a:pPr algn="l" indent="0" marL="0">
              <a:lnSpc>
                <a:spcPct val="108000"/>
              </a:lnSpc>
              <a:buNone/>
            </a:pPr>
            <a:r>
              <a:rPr lang="en-US" sz="4800" i="1" spc="-96" kern="0" dirty="0">
                <a:solidFill>
                  <a:srgbClr val="FAFAFA"/>
                </a:solidFill>
                <a:latin typeface="DM Serif Display" pitchFamily="34" charset="0"/>
                <a:ea typeface="DM Serif Display" pitchFamily="34" charset="-122"/>
                <a:cs typeface="DM Serif Display" pitchFamily="34" charset="-120"/>
              </a:rPr>
              <a:t>IA</a:t>
            </a:r>
            <a:pPr algn="l" indent="0" marL="0">
              <a:lnSpc>
                <a:spcPct val="108000"/>
              </a:lnSpc>
              <a:buNone/>
            </a:pPr>
            <a:r>
              <a:rPr lang="en-US" sz="4800" spc="-96" kern="0" dirty="0">
                <a:solidFill>
                  <a:srgbClr val="FAFAFA"/>
                </a:solidFill>
                <a:latin typeface="DM Serif Display" pitchFamily="34" charset="0"/>
                <a:ea typeface="DM Serif Display" pitchFamily="34" charset="-122"/>
                <a:cs typeface="DM Serif Display" pitchFamily="34" charset="-120"/>
              </a:rPr>
              <a:t>.</a:t>
            </a:r>
            <a:endParaRPr lang="en-US" sz="4800" dirty="0"/>
          </a:p>
        </p:txBody>
      </p:sp>
      <p:sp>
        <p:nvSpPr>
          <p:cNvPr id="7" name="Text 4"/>
          <p:cNvSpPr/>
          <p:nvPr/>
        </p:nvSpPr>
        <p:spPr>
          <a:xfrm>
            <a:off x="762000" y="5434161"/>
            <a:ext cx="569023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i="1" dirty="0">
                <a:solidFill>
                  <a:srgbClr val="FAFAFA"/>
                </a:solidFill>
                <a:latin typeface="PP Neue Montreal" pitchFamily="34" charset="0"/>
                <a:ea typeface="PP Neue Montreal" pitchFamily="34" charset="-122"/>
                <a:cs typeface="PP Neue Montreal" pitchFamily="34" charset="-120"/>
              </a:rPr>
              <a:t>Identity Debt Check </a:t>
            </a:r>
            <a:pPr algn="l" indent="0" marL="0">
              <a:lnSpc>
                <a:spcPct val="140000"/>
              </a:lnSpc>
              <a:buNone/>
            </a:pPr>
            <a:r>
              <a:rPr lang="en-US" sz="2550" dirty="0">
                <a:solidFill>
                  <a:srgbClr val="FAFAFA"/>
                </a:solidFill>
                <a:latin typeface="PP Neue Montreal" pitchFamily="34" charset="0"/>
                <a:ea typeface="PP Neue Montreal" pitchFamily="34" charset="-122"/>
                <a:cs typeface="PP Neue Montreal" pitchFamily="34" charset="-120"/>
              </a:rPr>
              <a:t>· gratuito · 3 minutos.</a:t>
            </a:r>
            <a:endParaRPr lang="en-US" sz="2550" dirty="0"/>
          </a:p>
        </p:txBody>
      </p:sp>
      <p:sp>
        <p:nvSpPr>
          <p:cNvPr id="8" name="Text 5"/>
          <p:cNvSpPr/>
          <p:nvPr/>
        </p:nvSpPr>
        <p:spPr>
          <a:xfrm>
            <a:off x="762000" y="6645622"/>
            <a:ext cx="5690235"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999999"/>
                </a:solidFill>
                <a:latin typeface="PP Neue Montreal" pitchFamily="34" charset="0"/>
                <a:ea typeface="PP Neue Montreal" pitchFamily="34" charset="-122"/>
                <a:cs typeface="PP Neue Montreal" pitchFamily="34" charset="-120"/>
              </a:rPr>
              <a:t>mirror.magnifytools.com</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D600"/>
        </a:solidFill>
      </p:bgPr>
    </p:bg>
    <p:spTree>
      <p:nvGrpSpPr>
        <p:cNvPr id="1" name=""/>
        <p:cNvGrpSpPr/>
        <p:nvPr/>
      </p:nvGrpSpPr>
      <p:grpSpPr>
        <a:xfrm>
          <a:off x="0" y="0"/>
          <a:ext cx="0" cy="0"/>
          <a:chOff x="0" y="0"/>
          <a:chExt cx="0" cy="0"/>
        </a:xfrm>
      </p:grpSpPr>
      <p:sp>
        <p:nvSpPr>
          <p:cNvPr id="2" name="Text 0"/>
          <p:cNvSpPr/>
          <p:nvPr/>
        </p:nvSpPr>
        <p:spPr>
          <a:xfrm>
            <a:off x="1524000" y="3043238"/>
            <a:ext cx="9418320" cy="381000"/>
          </a:xfrm>
          <a:prstGeom prst="rect">
            <a:avLst/>
          </a:prstGeom>
          <a:noFill/>
          <a:ln/>
        </p:spPr>
        <p:txBody>
          <a:bodyPr wrap="square" lIns="25400" tIns="25400" rIns="25400" bIns="25400" rtlCol="0" anchor="t">
            <a:normAutofit/>
          </a:bodyPr>
          <a:lstStyle/>
          <a:p>
            <a:pPr algn="l" indent="0" marL="0">
              <a:buNone/>
            </a:pPr>
            <a:r>
              <a:rPr lang="en-US" sz="2250" spc="405" kern="0" dirty="0">
                <a:solidFill>
                  <a:srgbClr val="444444"/>
                </a:solidFill>
                <a:latin typeface="PP Neue Montreal" pitchFamily="34" charset="0"/>
                <a:ea typeface="PP Neue Montreal" pitchFamily="34" charset="-122"/>
                <a:cs typeface="PP Neue Montreal" pitchFamily="34" charset="-120"/>
              </a:rPr>
              <a:t>PRUÉBALO</a:t>
            </a:r>
            <a:endParaRPr lang="en-US" sz="2250" dirty="0"/>
          </a:p>
        </p:txBody>
      </p:sp>
      <p:sp>
        <p:nvSpPr>
          <p:cNvPr id="3" name="Text 1"/>
          <p:cNvSpPr/>
          <p:nvPr/>
        </p:nvSpPr>
        <p:spPr>
          <a:xfrm>
            <a:off x="1524000" y="3843338"/>
            <a:ext cx="9418320" cy="2571750"/>
          </a:xfrm>
          <a:prstGeom prst="rect">
            <a:avLst/>
          </a:prstGeom>
          <a:noFill/>
          <a:ln/>
        </p:spPr>
        <p:txBody>
          <a:bodyPr wrap="square" lIns="25400" tIns="25400" rIns="25400" bIns="25400" rtlCol="0" anchor="t">
            <a:normAutofit/>
          </a:bodyPr>
          <a:lstStyle/>
          <a:p>
            <a:pPr algn="l" indent="0" marL="0">
              <a:lnSpc>
                <a:spcPct val="95000"/>
              </a:lnSpc>
              <a:buNone/>
            </a:pPr>
            <a:r>
              <a:rPr lang="en-US" sz="21000" i="1" spc="-630" kern="0" dirty="0">
                <a:solidFill>
                  <a:srgbClr val="0A0A0A"/>
                </a:solidFill>
                <a:latin typeface="DM Serif Display" pitchFamily="34" charset="0"/>
                <a:ea typeface="DM Serif Display" pitchFamily="34" charset="-122"/>
                <a:cs typeface="DM Serif Display" pitchFamily="34" charset="-120"/>
              </a:rPr>
              <a:t>Mírate.</a:t>
            </a:r>
            <a:endParaRPr lang="en-US" sz="21000" dirty="0"/>
          </a:p>
        </p:txBody>
      </p:sp>
      <p:sp>
        <p:nvSpPr>
          <p:cNvPr id="4" name="Text 2"/>
          <p:cNvSpPr/>
          <p:nvPr/>
        </p:nvSpPr>
        <p:spPr>
          <a:xfrm>
            <a:off x="1524000" y="6834188"/>
            <a:ext cx="9418320" cy="447675"/>
          </a:xfrm>
          <a:prstGeom prst="rect">
            <a:avLst/>
          </a:prstGeom>
          <a:noFill/>
          <a:ln/>
        </p:spPr>
        <p:txBody>
          <a:bodyPr wrap="square" lIns="25400" tIns="25400" rIns="25400" bIns="25400" rtlCol="0" anchor="t">
            <a:normAutofit/>
          </a:bodyPr>
          <a:lstStyle/>
          <a:p>
            <a:pPr algn="l" indent="0" marL="0">
              <a:buNone/>
            </a:pPr>
            <a:r>
              <a:rPr lang="en-US" sz="2700" dirty="0">
                <a:solidFill>
                  <a:srgbClr val="0A0A0A"/>
                </a:solidFill>
                <a:latin typeface="PP Neue Montreal" pitchFamily="34" charset="0"/>
                <a:ea typeface="PP Neue Montreal" pitchFamily="34" charset="-122"/>
                <a:cs typeface="PP Neue Montreal" pitchFamily="34" charset="-120"/>
              </a:rPr>
              <a:t>mirror.magnifytools.com</a:t>
            </a:r>
            <a:endParaRPr lang="en-US" sz="2700" dirty="0"/>
          </a:p>
        </p:txBody>
      </p:sp>
      <p:sp>
        <p:nvSpPr>
          <p:cNvPr id="5" name="Shape 3"/>
          <p:cNvSpPr/>
          <p:nvPr/>
        </p:nvSpPr>
        <p:spPr>
          <a:xfrm>
            <a:off x="11811000" y="2667000"/>
            <a:ext cx="4953000" cy="4953000"/>
          </a:xfrm>
          <a:prstGeom prst="rect">
            <a:avLst/>
          </a:prstGeom>
          <a:solidFill>
            <a:srgbClr val="FFFFFF"/>
          </a:solidFill>
          <a:ln/>
        </p:spPr>
      </p:sp>
      <p:pic>
        <p:nvPicPr>
          <p:cNvPr id="6" name="Image 0" descr="preencoded.png">    </p:cNvPr>
          <p:cNvPicPr>
            <a:picLocks noChangeAspect="1"/>
          </p:cNvPicPr>
          <p:nvPr/>
        </p:nvPicPr>
        <p:blipFill>
          <a:blip r:embed="rId1"/>
          <a:srcRect l="0" r="0" t="0" b="0"/>
          <a:stretch/>
        </p:blipFill>
        <p:spPr>
          <a:xfrm>
            <a:off x="12115800" y="2971800"/>
            <a:ext cx="4343400" cy="43434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193949" y="4043958"/>
            <a:ext cx="7899953" cy="1371600"/>
          </a:xfrm>
          <a:prstGeom prst="rect">
            <a:avLst/>
          </a:prstGeom>
          <a:noFill/>
          <a:ln/>
        </p:spPr>
        <p:txBody>
          <a:bodyPr wrap="square" lIns="25400" tIns="25400" rIns="25400" bIns="25400" rtlCol="0" anchor="t">
            <a:normAutofit/>
          </a:bodyPr>
          <a:lstStyle/>
          <a:p>
            <a:pPr algn="ctr" indent="0" marL="0">
              <a:lnSpc>
                <a:spcPct val="100000"/>
              </a:lnSpc>
              <a:buNone/>
            </a:pPr>
            <a:r>
              <a:rPr lang="en-US" sz="10500" i="1" spc="-105" kern="0" dirty="0">
                <a:solidFill>
                  <a:srgbClr val="F0F0F0"/>
                </a:solidFill>
                <a:latin typeface="DM Serif Display" pitchFamily="34" charset="0"/>
                <a:ea typeface="DM Serif Display" pitchFamily="34" charset="-122"/>
                <a:cs typeface="DM Serif Display" pitchFamily="34" charset="-120"/>
              </a:rPr>
              <a:t>Γνῶθι σεαυτόν</a:t>
            </a:r>
            <a:endParaRPr lang="en-US" sz="10500" dirty="0"/>
          </a:p>
        </p:txBody>
      </p:sp>
      <p:sp>
        <p:nvSpPr>
          <p:cNvPr id="3" name="Text 1"/>
          <p:cNvSpPr/>
          <p:nvPr/>
        </p:nvSpPr>
        <p:spPr>
          <a:xfrm>
            <a:off x="7021201" y="5758458"/>
            <a:ext cx="4245449" cy="522684"/>
          </a:xfrm>
          <a:prstGeom prst="rect">
            <a:avLst/>
          </a:prstGeom>
          <a:noFill/>
          <a:ln/>
        </p:spPr>
        <p:txBody>
          <a:bodyPr wrap="square" lIns="25400" tIns="25400" rIns="25400" bIns="25400" rtlCol="0" anchor="t">
            <a:normAutofit/>
          </a:bodyPr>
          <a:lstStyle/>
          <a:p>
            <a:pPr algn="ctr" indent="0" marL="0">
              <a:lnSpc>
                <a:spcPct val="106000"/>
              </a:lnSpc>
              <a:buNone/>
            </a:pPr>
            <a:r>
              <a:rPr lang="en-US" sz="3600" spc="72" kern="0" dirty="0">
                <a:solidFill>
                  <a:srgbClr val="999999"/>
                </a:solidFill>
                <a:latin typeface="PP Neue Montreal" pitchFamily="34" charset="0"/>
                <a:ea typeface="PP Neue Montreal" pitchFamily="34" charset="-122"/>
                <a:cs typeface="PP Neue Montreal" pitchFamily="34" charset="-120"/>
              </a:rPr>
              <a:t>conócete a ti mismo.</a:t>
            </a:r>
            <a:endParaRPr lang="en-US" sz="3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11239500" cy="10287000"/>
          </a:xfrm>
          <a:prstGeom prst="rect">
            <a:avLst/>
          </a:prstGeom>
          <a:solidFill>
            <a:srgbClr val="0A0A0A"/>
          </a:solidFill>
          <a:ln/>
        </p:spPr>
      </p:sp>
      <p:sp>
        <p:nvSpPr>
          <p:cNvPr id="3" name="Shape 1"/>
          <p:cNvSpPr/>
          <p:nvPr/>
        </p:nvSpPr>
        <p:spPr>
          <a:xfrm>
            <a:off x="0" y="0"/>
            <a:ext cx="11239500" cy="10287000"/>
          </a:xfrm>
          <a:prstGeom prst="rect">
            <a:avLst/>
          </a:prstGeom>
          <a:solidFill>
            <a:srgbClr val="0A0A0A"/>
          </a:solidFill>
          <a:ln/>
        </p:spPr>
      </p:sp>
      <p:pic>
        <p:nvPicPr>
          <p:cNvPr id="4" name="Image 0" descr="preencoded.png">    </p:cNvPr>
          <p:cNvPicPr>
            <a:picLocks noChangeAspect="1"/>
          </p:cNvPicPr>
          <p:nvPr/>
        </p:nvPicPr>
        <p:blipFill>
          <a:blip r:embed="rId1"/>
          <a:srcRect l="0" r="0" t="0" b="0"/>
          <a:stretch/>
        </p:blipFill>
        <p:spPr>
          <a:xfrm>
            <a:off x="0" y="0"/>
            <a:ext cx="11239500" cy="10287000"/>
          </a:xfrm>
          <a:prstGeom prst="rect">
            <a:avLst/>
          </a:prstGeom>
        </p:spPr>
      </p:pic>
      <p:sp>
        <p:nvSpPr>
          <p:cNvPr id="5" name="Shape 2"/>
          <p:cNvSpPr/>
          <p:nvPr/>
        </p:nvSpPr>
        <p:spPr>
          <a:xfrm>
            <a:off x="11239500" y="0"/>
            <a:ext cx="7048500" cy="10287000"/>
          </a:xfrm>
          <a:prstGeom prst="rect">
            <a:avLst/>
          </a:prstGeom>
          <a:solidFill>
            <a:srgbClr val="0A0A0A"/>
          </a:solidFill>
          <a:ln/>
        </p:spPr>
      </p:sp>
      <p:sp>
        <p:nvSpPr>
          <p:cNvPr id="6" name="Text 3"/>
          <p:cNvSpPr/>
          <p:nvPr/>
        </p:nvSpPr>
        <p:spPr>
          <a:xfrm>
            <a:off x="12001500" y="3023592"/>
            <a:ext cx="5690235" cy="552450"/>
          </a:xfrm>
          <a:prstGeom prst="rect">
            <a:avLst/>
          </a:prstGeom>
          <a:noFill/>
          <a:ln/>
        </p:spPr>
        <p:txBody>
          <a:bodyPr wrap="square" lIns="25400" tIns="25400" rIns="25400" bIns="25400" rtlCol="0" anchor="t">
            <a:normAutofit/>
          </a:bodyPr>
          <a:lstStyle/>
          <a:p>
            <a:pPr algn="l" indent="0" marL="0">
              <a:buNone/>
            </a:pPr>
            <a:r>
              <a:rPr lang="en-US" sz="3000" i="1" spc="60" kern="0" dirty="0">
                <a:solidFill>
                  <a:srgbClr val="FFD600"/>
                </a:solidFill>
                <a:latin typeface="DM Serif Display" pitchFamily="34" charset="0"/>
                <a:ea typeface="DM Serif Display" pitchFamily="34" charset="-122"/>
                <a:cs typeface="DM Serif Display" pitchFamily="34" charset="-120"/>
              </a:rPr>
              <a:t>τέλος</a:t>
            </a:r>
            <a:endParaRPr lang="en-US" sz="3000" dirty="0"/>
          </a:p>
        </p:txBody>
      </p:sp>
      <p:sp>
        <p:nvSpPr>
          <p:cNvPr id="7" name="Text 4"/>
          <p:cNvSpPr/>
          <p:nvPr/>
        </p:nvSpPr>
        <p:spPr>
          <a:xfrm>
            <a:off x="12001500" y="3652242"/>
            <a:ext cx="5690235" cy="31432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999999"/>
                </a:solidFill>
                <a:latin typeface="PP Neue Montreal" pitchFamily="34" charset="0"/>
                <a:ea typeface="PP Neue Montreal" pitchFamily="34" charset="-122"/>
                <a:cs typeface="PP Neue Montreal" pitchFamily="34" charset="-120"/>
              </a:rPr>
              <a:t>fin · propósito · causa final</a:t>
            </a:r>
            <a:endParaRPr lang="en-US" sz="1800" dirty="0"/>
          </a:p>
        </p:txBody>
      </p:sp>
      <p:sp>
        <p:nvSpPr>
          <p:cNvPr id="8" name="Text 5"/>
          <p:cNvSpPr/>
          <p:nvPr/>
        </p:nvSpPr>
        <p:spPr>
          <a:xfrm>
            <a:off x="12001500" y="4233267"/>
            <a:ext cx="5690235" cy="1354634"/>
          </a:xfrm>
          <a:prstGeom prst="rect">
            <a:avLst/>
          </a:prstGeom>
          <a:noFill/>
          <a:ln/>
        </p:spPr>
        <p:txBody>
          <a:bodyPr wrap="square" lIns="25400" tIns="25400" rIns="25400" bIns="25400" rtlCol="0" anchor="t">
            <a:normAutofit/>
          </a:bodyPr>
          <a:lstStyle/>
          <a:p>
            <a:pPr algn="l" indent="0" marL="0">
              <a:lnSpc>
                <a:spcPct val="108000"/>
              </a:lnSpc>
              <a:buNone/>
            </a:pPr>
            <a:r>
              <a:rPr lang="en-US" sz="4800" spc="-96" kern="0" dirty="0">
                <a:solidFill>
                  <a:srgbClr val="FAFAFA"/>
                </a:solidFill>
                <a:latin typeface="DM Serif Display" pitchFamily="34" charset="0"/>
                <a:ea typeface="DM Serif Display" pitchFamily="34" charset="-122"/>
                <a:cs typeface="DM Serif Display" pitchFamily="34" charset="-120"/>
              </a:rPr>
              <a:t>David Carrasco </a:t>
            </a:r>
            <a:pPr algn="l" indent="0" marL="0">
              <a:lnSpc>
                <a:spcPct val="108000"/>
              </a:lnSpc>
              <a:buNone/>
            </a:pPr>
            <a:r>
              <a:rPr lang="en-US" sz="4800" i="1" spc="-96" kern="0" dirty="0">
                <a:solidFill>
                  <a:srgbClr val="FAFAFA"/>
                </a:solidFill>
                <a:latin typeface="DM Serif Display" pitchFamily="34" charset="0"/>
                <a:ea typeface="DM Serif Display" pitchFamily="34" charset="-122"/>
                <a:cs typeface="DM Serif Display" pitchFamily="34" charset="-120"/>
              </a:rPr>
              <a:t>Pamies</a:t>
            </a:r>
            <a:pPr algn="l" indent="0" marL="0">
              <a:lnSpc>
                <a:spcPct val="108000"/>
              </a:lnSpc>
              <a:buNone/>
            </a:pPr>
            <a:r>
              <a:rPr lang="en-US" sz="4800" spc="-96" kern="0" dirty="0">
                <a:solidFill>
                  <a:srgbClr val="FAFAFA"/>
                </a:solidFill>
                <a:latin typeface="DM Serif Display" pitchFamily="34" charset="0"/>
                <a:ea typeface="DM Serif Display" pitchFamily="34" charset="-122"/>
                <a:cs typeface="DM Serif Display" pitchFamily="34" charset="-120"/>
              </a:rPr>
              <a:t>.</a:t>
            </a:r>
            <a:endParaRPr lang="en-US" sz="4800" dirty="0"/>
          </a:p>
        </p:txBody>
      </p:sp>
      <p:sp>
        <p:nvSpPr>
          <p:cNvPr id="9" name="Text 6"/>
          <p:cNvSpPr/>
          <p:nvPr/>
        </p:nvSpPr>
        <p:spPr>
          <a:xfrm>
            <a:off x="12001500" y="5854601"/>
            <a:ext cx="5690235" cy="1446758"/>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FAFAFA"/>
                </a:solidFill>
                <a:latin typeface="PP Neue Montreal" pitchFamily="34" charset="0"/>
                <a:ea typeface="PP Neue Montreal" pitchFamily="34" charset="-122"/>
                <a:cs typeface="PP Neue Montreal" pitchFamily="34" charset="-120"/>
              </a:rPr>
              <a:t>Magnify · magnifytools.com Mirror · mirror.magnifytools.com linkedin.com/in/david-carrasco-pamies</a:t>
            </a:r>
            <a:endParaRPr lang="en-US" sz="25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1524000" y="417761"/>
            <a:ext cx="15697200" cy="860971"/>
          </a:xfrm>
          <a:prstGeom prst="rect">
            <a:avLst/>
          </a:prstGeom>
          <a:noFill/>
          <a:ln/>
        </p:spPr>
        <p:txBody>
          <a:bodyPr wrap="square" lIns="25400" tIns="25400" rIns="25400" bIns="25400" rtlCol="0" anchor="t">
            <a:normAutofit/>
          </a:bodyPr>
          <a:lstStyle/>
          <a:p>
            <a:pPr algn="l" indent="0" marL="0">
              <a:lnSpc>
                <a:spcPct val="108000"/>
              </a:lnSpc>
              <a:buNone/>
            </a:pPr>
            <a:r>
              <a:rPr lang="en-US" sz="6000" spc="-120" kern="0" dirty="0">
                <a:solidFill>
                  <a:srgbClr val="FAFAFA"/>
                </a:solidFill>
                <a:latin typeface="DM Serif Display" pitchFamily="34" charset="0"/>
                <a:ea typeface="DM Serif Display" pitchFamily="34" charset="-122"/>
                <a:cs typeface="DM Serif Display" pitchFamily="34" charset="-120"/>
              </a:rPr>
              <a:t>Para </a:t>
            </a:r>
            <a:pPr algn="l" indent="0" marL="0">
              <a:lnSpc>
                <a:spcPct val="108000"/>
              </a:lnSpc>
              <a:buNone/>
            </a:pPr>
            <a:r>
              <a:rPr lang="en-US" sz="6000" i="1" spc="-120" kern="0" dirty="0">
                <a:solidFill>
                  <a:srgbClr val="FAFAFA"/>
                </a:solidFill>
                <a:latin typeface="DM Serif Display" pitchFamily="34" charset="0"/>
                <a:ea typeface="DM Serif Display" pitchFamily="34" charset="-122"/>
                <a:cs typeface="DM Serif Display" pitchFamily="34" charset="-120"/>
              </a:rPr>
              <a:t>profundizar</a:t>
            </a:r>
            <a:pPr algn="l" indent="0" marL="0">
              <a:lnSpc>
                <a:spcPct val="108000"/>
              </a:lnSpc>
              <a:buNone/>
            </a:pPr>
            <a:r>
              <a:rPr lang="en-US" sz="6000" spc="-120" kern="0" dirty="0">
                <a:solidFill>
                  <a:srgbClr val="FAFAFA"/>
                </a:solidFill>
                <a:latin typeface="DM Serif Display" pitchFamily="34" charset="0"/>
                <a:ea typeface="DM Serif Display" pitchFamily="34" charset="-122"/>
                <a:cs typeface="DM Serif Display" pitchFamily="34" charset="-120"/>
              </a:rPr>
              <a:t>.</a:t>
            </a:r>
            <a:endParaRPr lang="en-US" sz="6000" dirty="0"/>
          </a:p>
        </p:txBody>
      </p:sp>
      <p:sp>
        <p:nvSpPr>
          <p:cNvPr id="3" name="Text 1"/>
          <p:cNvSpPr/>
          <p:nvPr/>
        </p:nvSpPr>
        <p:spPr>
          <a:xfrm>
            <a:off x="1524000" y="2002631"/>
            <a:ext cx="7377684" cy="361950"/>
          </a:xfrm>
          <a:prstGeom prst="rect">
            <a:avLst/>
          </a:prstGeom>
          <a:noFill/>
          <a:ln/>
        </p:spPr>
        <p:txBody>
          <a:bodyPr wrap="square" lIns="25400" tIns="25400" rIns="25400" bIns="25400" rtlCol="0" anchor="t">
            <a:normAutofit/>
          </a:bodyPr>
          <a:lstStyle/>
          <a:p>
            <a:pPr algn="l" indent="0" marL="0">
              <a:buNone/>
            </a:pPr>
            <a:r>
              <a:rPr lang="en-US" sz="2100" spc="252" kern="0" dirty="0">
                <a:solidFill>
                  <a:srgbClr val="FFD600"/>
                </a:solidFill>
                <a:latin typeface="PP Neue Montreal" pitchFamily="34" charset="0"/>
                <a:ea typeface="PP Neue Montreal" pitchFamily="34" charset="-122"/>
                <a:cs typeface="PP Neue Montreal" pitchFamily="34" charset="-120"/>
              </a:rPr>
              <a:t>EL CASO DE HOY</a:t>
            </a:r>
            <a:endParaRPr lang="en-US" sz="2100" dirty="0"/>
          </a:p>
        </p:txBody>
      </p:sp>
      <p:sp>
        <p:nvSpPr>
          <p:cNvPr id="4" name="Shape 2"/>
          <p:cNvSpPr/>
          <p:nvPr/>
        </p:nvSpPr>
        <p:spPr>
          <a:xfrm>
            <a:off x="1524000" y="3574107"/>
            <a:ext cx="7162800" cy="9525"/>
          </a:xfrm>
          <a:prstGeom prst="rect">
            <a:avLst/>
          </a:prstGeom>
          <a:solidFill>
            <a:srgbClr val="FFFFFF">
              <a:alpha val="10000"/>
            </a:srgbClr>
          </a:solidFill>
          <a:ln/>
        </p:spPr>
      </p:sp>
      <p:sp>
        <p:nvSpPr>
          <p:cNvPr id="5" name="Text 3"/>
          <p:cNvSpPr/>
          <p:nvPr/>
        </p:nvSpPr>
        <p:spPr>
          <a:xfrm>
            <a:off x="1524000" y="2736056"/>
            <a:ext cx="4591124" cy="361950"/>
          </a:xfrm>
          <a:prstGeom prst="rect">
            <a:avLst/>
          </a:prstGeom>
          <a:noFill/>
          <a:ln/>
        </p:spPr>
        <p:txBody>
          <a:bodyPr wrap="square" lIns="0" tIns="0" rIns="0" bIns="0" rtlCol="0" anchor="t">
            <a:normAutofit/>
          </a:bodyPr>
          <a:lstStyle/>
          <a:p>
            <a:pPr algn="l" indent="0" marL="0">
              <a:lnSpc>
                <a:spcPct val="130000"/>
              </a:lnSpc>
              <a:buNone/>
            </a:pPr>
            <a:r>
              <a:rPr lang="en-US" sz="2100" dirty="0">
                <a:solidFill>
                  <a:srgbClr val="FAFAFA"/>
                </a:solidFill>
                <a:latin typeface="PP Neue Montreal" pitchFamily="34" charset="0"/>
                <a:ea typeface="PP Neue Montreal" pitchFamily="34" charset="-122"/>
                <a:cs typeface="PP Neue Montreal" pitchFamily="34" charset="-120"/>
              </a:rPr>
              <a:t>Caso completo H&amp;W · PDF descargable</a:t>
            </a:r>
            <a:endParaRPr lang="en-US" sz="2100" dirty="0"/>
          </a:p>
        </p:txBody>
      </p:sp>
      <p:sp>
        <p:nvSpPr>
          <p:cNvPr id="6" name="Text 4"/>
          <p:cNvSpPr/>
          <p:nvPr/>
        </p:nvSpPr>
        <p:spPr>
          <a:xfrm>
            <a:off x="1524000" y="3130302"/>
            <a:ext cx="7377684" cy="310455"/>
          </a:xfrm>
          <a:prstGeom prst="rect">
            <a:avLst/>
          </a:prstGeom>
          <a:noFill/>
          <a:ln/>
        </p:spPr>
        <p:txBody>
          <a:bodyPr wrap="square" lIns="25400" tIns="25400" rIns="25400" bIns="25400" rtlCol="0" anchor="t">
            <a:normAutofit/>
          </a:bodyPr>
          <a:lstStyle/>
          <a:p>
            <a:pPr algn="l" indent="0" marL="0">
              <a:lnSpc>
                <a:spcPct val="130000"/>
              </a:lnSpc>
              <a:buNone/>
            </a:pPr>
            <a:r>
              <a:rPr lang="en-US" sz="1650" spc="33" kern="0" dirty="0">
                <a:solidFill>
                  <a:srgbClr val="999999"/>
                </a:solidFill>
                <a:latin typeface="PP Neue Montreal" pitchFamily="34" charset="0"/>
                <a:ea typeface="PP Neue Montreal" pitchFamily="34" charset="-122"/>
                <a:cs typeface="PP Neue Montreal" pitchFamily="34" charset="-120"/>
              </a:rPr>
              <a:t>magnifytools.com/casos/hw.pdf</a:t>
            </a:r>
            <a:endParaRPr lang="en-US" sz="1650" dirty="0"/>
          </a:p>
        </p:txBody>
      </p:sp>
      <p:sp>
        <p:nvSpPr>
          <p:cNvPr id="7" name="Text 5"/>
          <p:cNvSpPr/>
          <p:nvPr/>
        </p:nvSpPr>
        <p:spPr>
          <a:xfrm>
            <a:off x="1524000" y="3764607"/>
            <a:ext cx="5505670" cy="361950"/>
          </a:xfrm>
          <a:prstGeom prst="rect">
            <a:avLst/>
          </a:prstGeom>
          <a:noFill/>
          <a:ln/>
        </p:spPr>
        <p:txBody>
          <a:bodyPr wrap="square" lIns="0" tIns="0" rIns="0" bIns="0" rtlCol="0" anchor="t">
            <a:normAutofit/>
          </a:bodyPr>
          <a:lstStyle/>
          <a:p>
            <a:pPr algn="l" indent="0" marL="0">
              <a:lnSpc>
                <a:spcPct val="130000"/>
              </a:lnSpc>
              <a:buNone/>
            </a:pPr>
            <a:r>
              <a:rPr lang="en-US" sz="2100" dirty="0">
                <a:solidFill>
                  <a:srgbClr val="FAFAFA"/>
                </a:solidFill>
                <a:latin typeface="PP Neue Montreal" pitchFamily="34" charset="0"/>
                <a:ea typeface="PP Neue Montreal" pitchFamily="34" charset="-122"/>
                <a:cs typeface="PP Neue Montreal" pitchFamily="34" charset="-120"/>
              </a:rPr>
              <a:t>Beyond Keywords (Sitebulb) · marco conceptual</a:t>
            </a:r>
            <a:endParaRPr lang="en-US" sz="2100" dirty="0"/>
          </a:p>
        </p:txBody>
      </p:sp>
      <p:sp>
        <p:nvSpPr>
          <p:cNvPr id="8" name="Text 6"/>
          <p:cNvSpPr/>
          <p:nvPr/>
        </p:nvSpPr>
        <p:spPr>
          <a:xfrm>
            <a:off x="1524000" y="4158853"/>
            <a:ext cx="7377684" cy="310455"/>
          </a:xfrm>
          <a:prstGeom prst="rect">
            <a:avLst/>
          </a:prstGeom>
          <a:noFill/>
          <a:ln/>
        </p:spPr>
        <p:txBody>
          <a:bodyPr wrap="square" lIns="25400" tIns="25400" rIns="25400" bIns="25400" rtlCol="0" anchor="t">
            <a:normAutofit/>
          </a:bodyPr>
          <a:lstStyle/>
          <a:p>
            <a:pPr algn="l" indent="0" marL="0">
              <a:lnSpc>
                <a:spcPct val="130000"/>
              </a:lnSpc>
              <a:buNone/>
            </a:pPr>
            <a:r>
              <a:rPr lang="en-US" sz="1650" spc="33" kern="0" dirty="0">
                <a:solidFill>
                  <a:srgbClr val="999999"/>
                </a:solidFill>
                <a:latin typeface="PP Neue Montreal" pitchFamily="34" charset="0"/>
                <a:ea typeface="PP Neue Montreal" pitchFamily="34" charset="-122"/>
                <a:cs typeface="PP Neue Montreal" pitchFamily="34" charset="-120"/>
              </a:rPr>
              <a:t>sitebulb.com/resources/guides/beyond-keywords</a:t>
            </a:r>
            <a:endParaRPr lang="en-US" sz="1650" dirty="0"/>
          </a:p>
        </p:txBody>
      </p:sp>
      <p:sp>
        <p:nvSpPr>
          <p:cNvPr id="9" name="Text 7"/>
          <p:cNvSpPr/>
          <p:nvPr/>
        </p:nvSpPr>
        <p:spPr>
          <a:xfrm>
            <a:off x="9601200" y="2002631"/>
            <a:ext cx="7377684" cy="361950"/>
          </a:xfrm>
          <a:prstGeom prst="rect">
            <a:avLst/>
          </a:prstGeom>
          <a:noFill/>
          <a:ln/>
        </p:spPr>
        <p:txBody>
          <a:bodyPr wrap="square" lIns="25400" tIns="25400" rIns="25400" bIns="25400" rtlCol="0" anchor="t">
            <a:normAutofit/>
          </a:bodyPr>
          <a:lstStyle/>
          <a:p>
            <a:pPr algn="l" indent="0" marL="0">
              <a:buNone/>
            </a:pPr>
            <a:r>
              <a:rPr lang="en-US" sz="2100" spc="252" kern="0" dirty="0">
                <a:solidFill>
                  <a:srgbClr val="FFD600"/>
                </a:solidFill>
                <a:latin typeface="PP Neue Montreal" pitchFamily="34" charset="0"/>
                <a:ea typeface="PP Neue Montreal" pitchFamily="34" charset="-122"/>
                <a:cs typeface="PP Neue Montreal" pitchFamily="34" charset="-120"/>
              </a:rPr>
              <a:t>LECTURAS SOBRE IA Y USUARIO</a:t>
            </a:r>
            <a:endParaRPr lang="en-US" sz="2100" dirty="0"/>
          </a:p>
        </p:txBody>
      </p:sp>
      <p:sp>
        <p:nvSpPr>
          <p:cNvPr id="10" name="Shape 8"/>
          <p:cNvSpPr/>
          <p:nvPr/>
        </p:nvSpPr>
        <p:spPr>
          <a:xfrm>
            <a:off x="9601200" y="3574107"/>
            <a:ext cx="7162800" cy="9525"/>
          </a:xfrm>
          <a:prstGeom prst="rect">
            <a:avLst/>
          </a:prstGeom>
          <a:solidFill>
            <a:srgbClr val="FFFFFF">
              <a:alpha val="10000"/>
            </a:srgbClr>
          </a:solidFill>
          <a:ln/>
        </p:spPr>
      </p:sp>
      <p:sp>
        <p:nvSpPr>
          <p:cNvPr id="11" name="Text 9"/>
          <p:cNvSpPr/>
          <p:nvPr/>
        </p:nvSpPr>
        <p:spPr>
          <a:xfrm>
            <a:off x="9601200" y="2736056"/>
            <a:ext cx="6436925" cy="361950"/>
          </a:xfrm>
          <a:prstGeom prst="rect">
            <a:avLst/>
          </a:prstGeom>
          <a:noFill/>
          <a:ln/>
        </p:spPr>
        <p:txBody>
          <a:bodyPr wrap="square" lIns="0" tIns="0" rIns="0" bIns="0" rtlCol="0" anchor="t">
            <a:normAutofit/>
          </a:bodyPr>
          <a:lstStyle/>
          <a:p>
            <a:pPr algn="l" indent="0" marL="0">
              <a:lnSpc>
                <a:spcPct val="130000"/>
              </a:lnSpc>
              <a:buNone/>
            </a:pPr>
            <a:r>
              <a:rPr lang="en-US" sz="2100" dirty="0">
                <a:solidFill>
                  <a:srgbClr val="FAFAFA"/>
                </a:solidFill>
                <a:latin typeface="PP Neue Montreal" pitchFamily="34" charset="0"/>
                <a:ea typeface="PP Neue Montreal" pitchFamily="34" charset="-122"/>
                <a:cs typeface="PP Neue Montreal" pitchFamily="34" charset="-120"/>
              </a:rPr>
              <a:t>Leah Tharin — Why AI Cannot Simulate Your Customers</a:t>
            </a:r>
            <a:endParaRPr lang="en-US" sz="2100" dirty="0"/>
          </a:p>
        </p:txBody>
      </p:sp>
      <p:sp>
        <p:nvSpPr>
          <p:cNvPr id="12" name="Text 10"/>
          <p:cNvSpPr/>
          <p:nvPr/>
        </p:nvSpPr>
        <p:spPr>
          <a:xfrm>
            <a:off x="9601200" y="3130302"/>
            <a:ext cx="7377684" cy="310455"/>
          </a:xfrm>
          <a:prstGeom prst="rect">
            <a:avLst/>
          </a:prstGeom>
          <a:noFill/>
          <a:ln/>
        </p:spPr>
        <p:txBody>
          <a:bodyPr wrap="square" lIns="25400" tIns="25400" rIns="25400" bIns="25400" rtlCol="0" anchor="t">
            <a:normAutofit/>
          </a:bodyPr>
          <a:lstStyle/>
          <a:p>
            <a:pPr algn="l" indent="0" marL="0">
              <a:lnSpc>
                <a:spcPct val="130000"/>
              </a:lnSpc>
              <a:buNone/>
            </a:pPr>
            <a:r>
              <a:rPr lang="en-US" sz="1650" spc="33" kern="0" dirty="0">
                <a:solidFill>
                  <a:srgbClr val="999999"/>
                </a:solidFill>
                <a:latin typeface="PP Neue Montreal" pitchFamily="34" charset="0"/>
                <a:ea typeface="PP Neue Montreal" pitchFamily="34" charset="-122"/>
                <a:cs typeface="PP Neue Montreal" pitchFamily="34" charset="-120"/>
              </a:rPr>
              <a:t>leahtharin.com/p/why-ai-cannot-simulate-your-customers</a:t>
            </a:r>
            <a:endParaRPr lang="en-US" sz="1650" dirty="0"/>
          </a:p>
        </p:txBody>
      </p:sp>
      <p:sp>
        <p:nvSpPr>
          <p:cNvPr id="13" name="Shape 11"/>
          <p:cNvSpPr/>
          <p:nvPr/>
        </p:nvSpPr>
        <p:spPr>
          <a:xfrm>
            <a:off x="9601200" y="4602659"/>
            <a:ext cx="7162800" cy="9525"/>
          </a:xfrm>
          <a:prstGeom prst="rect">
            <a:avLst/>
          </a:prstGeom>
          <a:solidFill>
            <a:srgbClr val="FFFFFF">
              <a:alpha val="10000"/>
            </a:srgbClr>
          </a:solidFill>
          <a:ln/>
        </p:spPr>
      </p:sp>
      <p:sp>
        <p:nvSpPr>
          <p:cNvPr id="14" name="Text 12"/>
          <p:cNvSpPr/>
          <p:nvPr/>
        </p:nvSpPr>
        <p:spPr>
          <a:xfrm>
            <a:off x="9601200" y="3764607"/>
            <a:ext cx="4842831" cy="361950"/>
          </a:xfrm>
          <a:prstGeom prst="rect">
            <a:avLst/>
          </a:prstGeom>
          <a:noFill/>
          <a:ln/>
        </p:spPr>
        <p:txBody>
          <a:bodyPr wrap="square" lIns="0" tIns="0" rIns="0" bIns="0" rtlCol="0" anchor="t">
            <a:normAutofit/>
          </a:bodyPr>
          <a:lstStyle/>
          <a:p>
            <a:pPr algn="l" indent="0" marL="0">
              <a:lnSpc>
                <a:spcPct val="130000"/>
              </a:lnSpc>
              <a:buNone/>
            </a:pPr>
            <a:r>
              <a:rPr lang="en-US" sz="2100" dirty="0">
                <a:solidFill>
                  <a:srgbClr val="FAFAFA"/>
                </a:solidFill>
                <a:latin typeface="PP Neue Montreal" pitchFamily="34" charset="0"/>
                <a:ea typeface="PP Neue Montreal" pitchFamily="34" charset="-122"/>
                <a:cs typeface="PP Neue Montreal" pitchFamily="34" charset="-120"/>
              </a:rPr>
              <a:t>Amanda Natividad — This Is How You Win</a:t>
            </a:r>
            <a:endParaRPr lang="en-US" sz="2100" dirty="0"/>
          </a:p>
        </p:txBody>
      </p:sp>
      <p:sp>
        <p:nvSpPr>
          <p:cNvPr id="15" name="Text 13"/>
          <p:cNvSpPr/>
          <p:nvPr/>
        </p:nvSpPr>
        <p:spPr>
          <a:xfrm>
            <a:off x="9601200" y="4158853"/>
            <a:ext cx="7377684" cy="310455"/>
          </a:xfrm>
          <a:prstGeom prst="rect">
            <a:avLst/>
          </a:prstGeom>
          <a:noFill/>
          <a:ln/>
        </p:spPr>
        <p:txBody>
          <a:bodyPr wrap="square" lIns="25400" tIns="25400" rIns="25400" bIns="25400" rtlCol="0" anchor="t">
            <a:normAutofit/>
          </a:bodyPr>
          <a:lstStyle/>
          <a:p>
            <a:pPr algn="l" indent="0" marL="0">
              <a:lnSpc>
                <a:spcPct val="130000"/>
              </a:lnSpc>
              <a:buNone/>
            </a:pPr>
            <a:r>
              <a:rPr lang="en-US" sz="1650" spc="33" kern="0" dirty="0">
                <a:solidFill>
                  <a:srgbClr val="999999"/>
                </a:solidFill>
                <a:latin typeface="PP Neue Montreal" pitchFamily="34" charset="0"/>
                <a:ea typeface="PP Neue Montreal" pitchFamily="34" charset="-122"/>
                <a:cs typeface="PP Neue Montreal" pitchFamily="34" charset="-120"/>
              </a:rPr>
              <a:t>amandanat.substack.com/p/this-is-how-you-win-when-everyone</a:t>
            </a:r>
            <a:endParaRPr lang="en-US" sz="1650" dirty="0"/>
          </a:p>
        </p:txBody>
      </p:sp>
      <p:sp>
        <p:nvSpPr>
          <p:cNvPr id="16" name="Text 14"/>
          <p:cNvSpPr/>
          <p:nvPr/>
        </p:nvSpPr>
        <p:spPr>
          <a:xfrm>
            <a:off x="9601200" y="4793159"/>
            <a:ext cx="4227207" cy="361950"/>
          </a:xfrm>
          <a:prstGeom prst="rect">
            <a:avLst/>
          </a:prstGeom>
          <a:noFill/>
          <a:ln/>
        </p:spPr>
        <p:txBody>
          <a:bodyPr wrap="square" lIns="0" tIns="0" rIns="0" bIns="0" rtlCol="0" anchor="t">
            <a:normAutofit/>
          </a:bodyPr>
          <a:lstStyle/>
          <a:p>
            <a:pPr algn="l" indent="0" marL="0">
              <a:lnSpc>
                <a:spcPct val="130000"/>
              </a:lnSpc>
              <a:buNone/>
            </a:pPr>
            <a:r>
              <a:rPr lang="en-US" sz="2100" dirty="0">
                <a:solidFill>
                  <a:srgbClr val="FAFAFA"/>
                </a:solidFill>
                <a:latin typeface="PP Neue Montreal" pitchFamily="34" charset="0"/>
                <a:ea typeface="PP Neue Montreal" pitchFamily="34" charset="-122"/>
                <a:cs typeface="PP Neue Montreal" pitchFamily="34" charset="-120"/>
              </a:rPr>
              <a:t>Steve Toth — AI Mode buyer journey</a:t>
            </a:r>
            <a:endParaRPr lang="en-US" sz="2100" dirty="0"/>
          </a:p>
        </p:txBody>
      </p:sp>
      <p:sp>
        <p:nvSpPr>
          <p:cNvPr id="17" name="Text 15"/>
          <p:cNvSpPr/>
          <p:nvPr/>
        </p:nvSpPr>
        <p:spPr>
          <a:xfrm>
            <a:off x="9601200" y="5187404"/>
            <a:ext cx="7377684" cy="310455"/>
          </a:xfrm>
          <a:prstGeom prst="rect">
            <a:avLst/>
          </a:prstGeom>
          <a:noFill/>
          <a:ln/>
        </p:spPr>
        <p:txBody>
          <a:bodyPr wrap="square" lIns="25400" tIns="25400" rIns="25400" bIns="25400" rtlCol="0" anchor="t">
            <a:normAutofit/>
          </a:bodyPr>
          <a:lstStyle/>
          <a:p>
            <a:pPr algn="l" indent="0" marL="0">
              <a:lnSpc>
                <a:spcPct val="130000"/>
              </a:lnSpc>
              <a:buNone/>
            </a:pPr>
            <a:r>
              <a:rPr lang="en-US" sz="1650" spc="33" kern="0" dirty="0">
                <a:solidFill>
                  <a:srgbClr val="999999"/>
                </a:solidFill>
                <a:latin typeface="PP Neue Montreal" pitchFamily="34" charset="0"/>
                <a:ea typeface="PP Neue Montreal" pitchFamily="34" charset="-122"/>
                <a:cs typeface="PP Neue Montreal" pitchFamily="34" charset="-120"/>
              </a:rPr>
              <a:t>linkedin.com/posts/stevetothjr</a:t>
            </a:r>
            <a:endParaRPr lang="en-US" sz="1650" dirty="0"/>
          </a:p>
        </p:txBody>
      </p:sp>
      <p:sp>
        <p:nvSpPr>
          <p:cNvPr id="18" name="Text 16"/>
          <p:cNvSpPr/>
          <p:nvPr/>
        </p:nvSpPr>
        <p:spPr>
          <a:xfrm>
            <a:off x="1524000" y="6240810"/>
            <a:ext cx="7377684" cy="361950"/>
          </a:xfrm>
          <a:prstGeom prst="rect">
            <a:avLst/>
          </a:prstGeom>
          <a:noFill/>
          <a:ln/>
        </p:spPr>
        <p:txBody>
          <a:bodyPr wrap="square" lIns="25400" tIns="25400" rIns="25400" bIns="25400" rtlCol="0" anchor="t">
            <a:normAutofit/>
          </a:bodyPr>
          <a:lstStyle/>
          <a:p>
            <a:pPr algn="l" indent="0" marL="0">
              <a:buNone/>
            </a:pPr>
            <a:r>
              <a:rPr lang="en-US" sz="2100" spc="252" kern="0" dirty="0">
                <a:solidFill>
                  <a:srgbClr val="FFD600"/>
                </a:solidFill>
                <a:latin typeface="PP Neue Montreal" pitchFamily="34" charset="0"/>
                <a:ea typeface="PP Neue Montreal" pitchFamily="34" charset="-122"/>
                <a:cs typeface="PP Neue Montreal" pitchFamily="34" charset="-120"/>
              </a:rPr>
              <a:t>FRAMEWORKS</a:t>
            </a:r>
            <a:endParaRPr lang="en-US" sz="2100" dirty="0"/>
          </a:p>
        </p:txBody>
      </p:sp>
      <p:sp>
        <p:nvSpPr>
          <p:cNvPr id="19" name="Shape 17"/>
          <p:cNvSpPr/>
          <p:nvPr/>
        </p:nvSpPr>
        <p:spPr>
          <a:xfrm>
            <a:off x="1524000" y="7812286"/>
            <a:ext cx="7162800" cy="9525"/>
          </a:xfrm>
          <a:prstGeom prst="rect">
            <a:avLst/>
          </a:prstGeom>
          <a:solidFill>
            <a:srgbClr val="FFFFFF">
              <a:alpha val="10000"/>
            </a:srgbClr>
          </a:solidFill>
          <a:ln/>
        </p:spPr>
      </p:sp>
      <p:sp>
        <p:nvSpPr>
          <p:cNvPr id="20" name="Text 18"/>
          <p:cNvSpPr/>
          <p:nvPr/>
        </p:nvSpPr>
        <p:spPr>
          <a:xfrm>
            <a:off x="1524000" y="6974235"/>
            <a:ext cx="4053219" cy="361950"/>
          </a:xfrm>
          <a:prstGeom prst="rect">
            <a:avLst/>
          </a:prstGeom>
          <a:noFill/>
          <a:ln/>
        </p:spPr>
        <p:txBody>
          <a:bodyPr wrap="square" lIns="0" tIns="0" rIns="0" bIns="0" rtlCol="0" anchor="t">
            <a:normAutofit/>
          </a:bodyPr>
          <a:lstStyle/>
          <a:p>
            <a:pPr algn="l" indent="0" marL="0">
              <a:lnSpc>
                <a:spcPct val="130000"/>
              </a:lnSpc>
              <a:buNone/>
            </a:pPr>
            <a:r>
              <a:rPr lang="en-US" sz="2100" dirty="0">
                <a:solidFill>
                  <a:srgbClr val="FAFAFA"/>
                </a:solidFill>
                <a:latin typeface="PP Neue Montreal" pitchFamily="34" charset="0"/>
                <a:ea typeface="PP Neue Montreal" pitchFamily="34" charset="-122"/>
                <a:cs typeface="PP Neue Montreal" pitchFamily="34" charset="-120"/>
              </a:rPr>
              <a:t>Ayush Poddar — Trust Architecture</a:t>
            </a:r>
            <a:endParaRPr lang="en-US" sz="2100" dirty="0"/>
          </a:p>
        </p:txBody>
      </p:sp>
      <p:sp>
        <p:nvSpPr>
          <p:cNvPr id="21" name="Text 19"/>
          <p:cNvSpPr/>
          <p:nvPr/>
        </p:nvSpPr>
        <p:spPr>
          <a:xfrm>
            <a:off x="1524000" y="7368480"/>
            <a:ext cx="7377684" cy="310455"/>
          </a:xfrm>
          <a:prstGeom prst="rect">
            <a:avLst/>
          </a:prstGeom>
          <a:noFill/>
          <a:ln/>
        </p:spPr>
        <p:txBody>
          <a:bodyPr wrap="square" lIns="25400" tIns="25400" rIns="25400" bIns="25400" rtlCol="0" anchor="t">
            <a:normAutofit/>
          </a:bodyPr>
          <a:lstStyle/>
          <a:p>
            <a:pPr algn="l" indent="0" marL="0">
              <a:lnSpc>
                <a:spcPct val="130000"/>
              </a:lnSpc>
              <a:buNone/>
            </a:pPr>
            <a:r>
              <a:rPr lang="en-US" sz="1650" spc="33" kern="0" dirty="0">
                <a:solidFill>
                  <a:srgbClr val="999999"/>
                </a:solidFill>
                <a:latin typeface="PP Neue Montreal" pitchFamily="34" charset="0"/>
                <a:ea typeface="PP Neue Montreal" pitchFamily="34" charset="-122"/>
                <a:cs typeface="PP Neue Montreal" pitchFamily="34" charset="-120"/>
              </a:rPr>
              <a:t>startupgtm.substack.com/p/building-b2b-growth-through-trust</a:t>
            </a:r>
            <a:endParaRPr lang="en-US" sz="1650" dirty="0"/>
          </a:p>
        </p:txBody>
      </p:sp>
      <p:sp>
        <p:nvSpPr>
          <p:cNvPr id="22" name="Shape 20"/>
          <p:cNvSpPr/>
          <p:nvPr/>
        </p:nvSpPr>
        <p:spPr>
          <a:xfrm>
            <a:off x="1524000" y="8840837"/>
            <a:ext cx="7162800" cy="9525"/>
          </a:xfrm>
          <a:prstGeom prst="rect">
            <a:avLst/>
          </a:prstGeom>
          <a:solidFill>
            <a:srgbClr val="FFFFFF">
              <a:alpha val="10000"/>
            </a:srgbClr>
          </a:solidFill>
          <a:ln/>
        </p:spPr>
      </p:sp>
      <p:sp>
        <p:nvSpPr>
          <p:cNvPr id="23" name="Text 21"/>
          <p:cNvSpPr/>
          <p:nvPr/>
        </p:nvSpPr>
        <p:spPr>
          <a:xfrm>
            <a:off x="1524000" y="8002786"/>
            <a:ext cx="4893571" cy="361950"/>
          </a:xfrm>
          <a:prstGeom prst="rect">
            <a:avLst/>
          </a:prstGeom>
          <a:noFill/>
          <a:ln/>
        </p:spPr>
        <p:txBody>
          <a:bodyPr wrap="square" lIns="0" tIns="0" rIns="0" bIns="0" rtlCol="0" anchor="t">
            <a:normAutofit/>
          </a:bodyPr>
          <a:lstStyle/>
          <a:p>
            <a:pPr algn="l" indent="0" marL="0">
              <a:lnSpc>
                <a:spcPct val="130000"/>
              </a:lnSpc>
              <a:buNone/>
            </a:pPr>
            <a:r>
              <a:rPr lang="en-US" sz="2100" dirty="0">
                <a:solidFill>
                  <a:srgbClr val="FAFAFA"/>
                </a:solidFill>
                <a:latin typeface="PP Neue Montreal" pitchFamily="34" charset="0"/>
                <a:ea typeface="PP Neue Montreal" pitchFamily="34" charset="-122"/>
                <a:cs typeface="PP Neue Montreal" pitchFamily="34" charset="-120"/>
              </a:rPr>
              <a:t>Scott Bair — How to Brand Your Company</a:t>
            </a:r>
            <a:endParaRPr lang="en-US" sz="2100" dirty="0"/>
          </a:p>
        </p:txBody>
      </p:sp>
      <p:sp>
        <p:nvSpPr>
          <p:cNvPr id="24" name="Text 22"/>
          <p:cNvSpPr/>
          <p:nvPr/>
        </p:nvSpPr>
        <p:spPr>
          <a:xfrm>
            <a:off x="1524000" y="8397032"/>
            <a:ext cx="7377684" cy="310455"/>
          </a:xfrm>
          <a:prstGeom prst="rect">
            <a:avLst/>
          </a:prstGeom>
          <a:noFill/>
          <a:ln/>
        </p:spPr>
        <p:txBody>
          <a:bodyPr wrap="square" lIns="25400" tIns="25400" rIns="25400" bIns="25400" rtlCol="0" anchor="t">
            <a:normAutofit/>
          </a:bodyPr>
          <a:lstStyle/>
          <a:p>
            <a:pPr algn="l" indent="0" marL="0">
              <a:lnSpc>
                <a:spcPct val="130000"/>
              </a:lnSpc>
              <a:buNone/>
            </a:pPr>
            <a:r>
              <a:rPr lang="en-US" sz="1650" spc="33" kern="0" dirty="0">
                <a:solidFill>
                  <a:srgbClr val="999999"/>
                </a:solidFill>
                <a:latin typeface="PP Neue Montreal" pitchFamily="34" charset="0"/>
                <a:ea typeface="PP Neue Montreal" pitchFamily="34" charset="-122"/>
                <a:cs typeface="PP Neue Montreal" pitchFamily="34" charset="-120"/>
              </a:rPr>
              <a:t>x.com/scott_bair</a:t>
            </a:r>
            <a:endParaRPr lang="en-US" sz="1650" dirty="0"/>
          </a:p>
        </p:txBody>
      </p:sp>
      <p:sp>
        <p:nvSpPr>
          <p:cNvPr id="25" name="Text 23"/>
          <p:cNvSpPr/>
          <p:nvPr/>
        </p:nvSpPr>
        <p:spPr>
          <a:xfrm>
            <a:off x="1524000" y="9031337"/>
            <a:ext cx="6315977" cy="361950"/>
          </a:xfrm>
          <a:prstGeom prst="rect">
            <a:avLst/>
          </a:prstGeom>
          <a:noFill/>
          <a:ln/>
        </p:spPr>
        <p:txBody>
          <a:bodyPr wrap="square" lIns="0" tIns="0" rIns="0" bIns="0" rtlCol="0" anchor="t">
            <a:normAutofit/>
          </a:bodyPr>
          <a:lstStyle/>
          <a:p>
            <a:pPr algn="l" indent="0" marL="0">
              <a:lnSpc>
                <a:spcPct val="130000"/>
              </a:lnSpc>
              <a:buNone/>
            </a:pPr>
            <a:r>
              <a:rPr lang="en-US" sz="2100" dirty="0">
                <a:solidFill>
                  <a:srgbClr val="FAFAFA"/>
                </a:solidFill>
                <a:latin typeface="PP Neue Montreal" pitchFamily="34" charset="0"/>
                <a:ea typeface="PP Neue Montreal" pitchFamily="34" charset="-122"/>
                <a:cs typeface="PP Neue Montreal" pitchFamily="34" charset="-120"/>
              </a:rPr>
              <a:t>Bengu Sarica Dincer — Why Your SEO KPIs Are Failing</a:t>
            </a:r>
            <a:endParaRPr lang="en-US" sz="2100" dirty="0"/>
          </a:p>
        </p:txBody>
      </p:sp>
      <p:sp>
        <p:nvSpPr>
          <p:cNvPr id="26" name="Text 24"/>
          <p:cNvSpPr/>
          <p:nvPr/>
        </p:nvSpPr>
        <p:spPr>
          <a:xfrm>
            <a:off x="1524000" y="9425583"/>
            <a:ext cx="7377684" cy="310455"/>
          </a:xfrm>
          <a:prstGeom prst="rect">
            <a:avLst/>
          </a:prstGeom>
          <a:noFill/>
          <a:ln/>
        </p:spPr>
        <p:txBody>
          <a:bodyPr wrap="square" lIns="25400" tIns="25400" rIns="25400" bIns="25400" rtlCol="0" anchor="t">
            <a:normAutofit/>
          </a:bodyPr>
          <a:lstStyle/>
          <a:p>
            <a:pPr algn="l" indent="0" marL="0">
              <a:lnSpc>
                <a:spcPct val="130000"/>
              </a:lnSpc>
              <a:buNone/>
            </a:pPr>
            <a:r>
              <a:rPr lang="en-US" sz="1650" spc="33" kern="0" dirty="0">
                <a:solidFill>
                  <a:srgbClr val="999999"/>
                </a:solidFill>
                <a:latin typeface="PP Neue Montreal" pitchFamily="34" charset="0"/>
                <a:ea typeface="PP Neue Montreal" pitchFamily="34" charset="-122"/>
                <a:cs typeface="PP Neue Montreal" pitchFamily="34" charset="-120"/>
              </a:rPr>
              <a:t>searchenginejournal.com/why-your-seo-kpis-are-failing</a:t>
            </a:r>
            <a:endParaRPr lang="en-US" sz="1650" dirty="0"/>
          </a:p>
        </p:txBody>
      </p:sp>
      <p:sp>
        <p:nvSpPr>
          <p:cNvPr id="27" name="Text 25"/>
          <p:cNvSpPr/>
          <p:nvPr/>
        </p:nvSpPr>
        <p:spPr>
          <a:xfrm>
            <a:off x="9601200" y="6240810"/>
            <a:ext cx="7377684" cy="361950"/>
          </a:xfrm>
          <a:prstGeom prst="rect">
            <a:avLst/>
          </a:prstGeom>
          <a:noFill/>
          <a:ln/>
        </p:spPr>
        <p:txBody>
          <a:bodyPr wrap="square" lIns="25400" tIns="25400" rIns="25400" bIns="25400" rtlCol="0" anchor="t">
            <a:normAutofit/>
          </a:bodyPr>
          <a:lstStyle/>
          <a:p>
            <a:pPr algn="l" indent="0" marL="0">
              <a:buNone/>
            </a:pPr>
            <a:r>
              <a:rPr lang="en-US" sz="2100" spc="252" kern="0" dirty="0">
                <a:solidFill>
                  <a:srgbClr val="FFD600"/>
                </a:solidFill>
                <a:latin typeface="PP Neue Montreal" pitchFamily="34" charset="0"/>
                <a:ea typeface="PP Neue Montreal" pitchFamily="34" charset="-122"/>
                <a:cs typeface="PP Neue Montreal" pitchFamily="34" charset="-120"/>
              </a:rPr>
              <a:t>MAGNIFY</a:t>
            </a:r>
            <a:endParaRPr lang="en-US" sz="2100" dirty="0"/>
          </a:p>
        </p:txBody>
      </p:sp>
      <p:sp>
        <p:nvSpPr>
          <p:cNvPr id="28" name="Shape 26"/>
          <p:cNvSpPr/>
          <p:nvPr/>
        </p:nvSpPr>
        <p:spPr>
          <a:xfrm>
            <a:off x="9601200" y="7812286"/>
            <a:ext cx="7162800" cy="9525"/>
          </a:xfrm>
          <a:prstGeom prst="rect">
            <a:avLst/>
          </a:prstGeom>
          <a:solidFill>
            <a:srgbClr val="FFFFFF">
              <a:alpha val="10000"/>
            </a:srgbClr>
          </a:solidFill>
          <a:ln/>
        </p:spPr>
      </p:sp>
      <p:sp>
        <p:nvSpPr>
          <p:cNvPr id="29" name="Text 27"/>
          <p:cNvSpPr/>
          <p:nvPr/>
        </p:nvSpPr>
        <p:spPr>
          <a:xfrm>
            <a:off x="9601200" y="6974235"/>
            <a:ext cx="3375664" cy="361950"/>
          </a:xfrm>
          <a:prstGeom prst="rect">
            <a:avLst/>
          </a:prstGeom>
          <a:noFill/>
          <a:ln/>
        </p:spPr>
        <p:txBody>
          <a:bodyPr wrap="square" lIns="0" tIns="0" rIns="0" bIns="0" rtlCol="0" anchor="t">
            <a:normAutofit/>
          </a:bodyPr>
          <a:lstStyle/>
          <a:p>
            <a:pPr algn="l" indent="0" marL="0">
              <a:lnSpc>
                <a:spcPct val="130000"/>
              </a:lnSpc>
              <a:buNone/>
            </a:pPr>
            <a:r>
              <a:rPr lang="en-US" sz="2100" dirty="0">
                <a:solidFill>
                  <a:srgbClr val="FAFAFA"/>
                </a:solidFill>
                <a:latin typeface="PP Neue Montreal" pitchFamily="34" charset="0"/>
                <a:ea typeface="PP Neue Montreal" pitchFamily="34" charset="-122"/>
                <a:cs typeface="PP Neue Montreal" pitchFamily="34" charset="-120"/>
              </a:rPr>
              <a:t>Mirror — Identity Debt Check</a:t>
            </a:r>
            <a:endParaRPr lang="en-US" sz="2100" dirty="0"/>
          </a:p>
        </p:txBody>
      </p:sp>
      <p:sp>
        <p:nvSpPr>
          <p:cNvPr id="30" name="Text 28"/>
          <p:cNvSpPr/>
          <p:nvPr/>
        </p:nvSpPr>
        <p:spPr>
          <a:xfrm>
            <a:off x="9601200" y="7368480"/>
            <a:ext cx="7377684" cy="310455"/>
          </a:xfrm>
          <a:prstGeom prst="rect">
            <a:avLst/>
          </a:prstGeom>
          <a:noFill/>
          <a:ln/>
        </p:spPr>
        <p:txBody>
          <a:bodyPr wrap="square" lIns="25400" tIns="25400" rIns="25400" bIns="25400" rtlCol="0" anchor="t">
            <a:normAutofit/>
          </a:bodyPr>
          <a:lstStyle/>
          <a:p>
            <a:pPr algn="l" indent="0" marL="0">
              <a:lnSpc>
                <a:spcPct val="130000"/>
              </a:lnSpc>
              <a:buNone/>
            </a:pPr>
            <a:r>
              <a:rPr lang="en-US" sz="1650" spc="33" kern="0" dirty="0">
                <a:solidFill>
                  <a:srgbClr val="999999"/>
                </a:solidFill>
                <a:latin typeface="PP Neue Montreal" pitchFamily="34" charset="0"/>
                <a:ea typeface="PP Neue Montreal" pitchFamily="34" charset="-122"/>
                <a:cs typeface="PP Neue Montreal" pitchFamily="34" charset="-120"/>
              </a:rPr>
              <a:t>mirror.magnifytools.com</a:t>
            </a:r>
            <a:endParaRPr lang="en-US" sz="1650" dirty="0"/>
          </a:p>
        </p:txBody>
      </p:sp>
      <p:sp>
        <p:nvSpPr>
          <p:cNvPr id="31" name="Shape 29"/>
          <p:cNvSpPr/>
          <p:nvPr/>
        </p:nvSpPr>
        <p:spPr>
          <a:xfrm>
            <a:off x="9601200" y="8840837"/>
            <a:ext cx="7162800" cy="9525"/>
          </a:xfrm>
          <a:prstGeom prst="rect">
            <a:avLst/>
          </a:prstGeom>
          <a:solidFill>
            <a:srgbClr val="FFFFFF">
              <a:alpha val="10000"/>
            </a:srgbClr>
          </a:solidFill>
          <a:ln/>
        </p:spPr>
      </p:sp>
      <p:sp>
        <p:nvSpPr>
          <p:cNvPr id="32" name="Text 30"/>
          <p:cNvSpPr/>
          <p:nvPr/>
        </p:nvSpPr>
        <p:spPr>
          <a:xfrm>
            <a:off x="9601200" y="8002786"/>
            <a:ext cx="2055168" cy="361950"/>
          </a:xfrm>
          <a:prstGeom prst="rect">
            <a:avLst/>
          </a:prstGeom>
          <a:noFill/>
          <a:ln/>
        </p:spPr>
        <p:txBody>
          <a:bodyPr wrap="square" lIns="0" tIns="0" rIns="0" bIns="0" rtlCol="0" anchor="t">
            <a:normAutofit/>
          </a:bodyPr>
          <a:lstStyle/>
          <a:p>
            <a:pPr algn="l" indent="0" marL="0">
              <a:lnSpc>
                <a:spcPct val="130000"/>
              </a:lnSpc>
              <a:buNone/>
            </a:pPr>
            <a:r>
              <a:rPr lang="en-US" sz="2100" dirty="0">
                <a:solidFill>
                  <a:srgbClr val="FAFAFA"/>
                </a:solidFill>
                <a:latin typeface="PP Neue Montreal" pitchFamily="34" charset="0"/>
                <a:ea typeface="PP Neue Montreal" pitchFamily="34" charset="-122"/>
                <a:cs typeface="PP Neue Montreal" pitchFamily="34" charset="-120"/>
              </a:rPr>
              <a:t>David en LinkedIn</a:t>
            </a:r>
            <a:endParaRPr lang="en-US" sz="2100" dirty="0"/>
          </a:p>
        </p:txBody>
      </p:sp>
      <p:sp>
        <p:nvSpPr>
          <p:cNvPr id="33" name="Text 31"/>
          <p:cNvSpPr/>
          <p:nvPr/>
        </p:nvSpPr>
        <p:spPr>
          <a:xfrm>
            <a:off x="9601200" y="8397032"/>
            <a:ext cx="7377684" cy="310455"/>
          </a:xfrm>
          <a:prstGeom prst="rect">
            <a:avLst/>
          </a:prstGeom>
          <a:noFill/>
          <a:ln/>
        </p:spPr>
        <p:txBody>
          <a:bodyPr wrap="square" lIns="25400" tIns="25400" rIns="25400" bIns="25400" rtlCol="0" anchor="t">
            <a:normAutofit/>
          </a:bodyPr>
          <a:lstStyle/>
          <a:p>
            <a:pPr algn="l" indent="0" marL="0">
              <a:lnSpc>
                <a:spcPct val="130000"/>
              </a:lnSpc>
              <a:buNone/>
            </a:pPr>
            <a:r>
              <a:rPr lang="en-US" sz="1650" spc="33" kern="0" dirty="0">
                <a:solidFill>
                  <a:srgbClr val="999999"/>
                </a:solidFill>
                <a:latin typeface="PP Neue Montreal" pitchFamily="34" charset="0"/>
                <a:ea typeface="PP Neue Montreal" pitchFamily="34" charset="-122"/>
                <a:cs typeface="PP Neue Montreal" pitchFamily="34" charset="-120"/>
              </a:rPr>
              <a:t>linkedin.com/in/david-carrasco-pamies</a:t>
            </a:r>
            <a:endParaRPr lang="en-US" sz="1650" dirty="0"/>
          </a:p>
        </p:txBody>
      </p:sp>
      <p:sp>
        <p:nvSpPr>
          <p:cNvPr id="34" name="Text 32"/>
          <p:cNvSpPr/>
          <p:nvPr/>
        </p:nvSpPr>
        <p:spPr>
          <a:xfrm>
            <a:off x="9601200" y="9031337"/>
            <a:ext cx="2046387" cy="361950"/>
          </a:xfrm>
          <a:prstGeom prst="rect">
            <a:avLst/>
          </a:prstGeom>
          <a:noFill/>
          <a:ln/>
        </p:spPr>
        <p:txBody>
          <a:bodyPr wrap="square" lIns="0" tIns="0" rIns="0" bIns="0" rtlCol="0" anchor="t">
            <a:normAutofit/>
          </a:bodyPr>
          <a:lstStyle/>
          <a:p>
            <a:pPr algn="l" indent="0" marL="0">
              <a:lnSpc>
                <a:spcPct val="130000"/>
              </a:lnSpc>
              <a:buNone/>
            </a:pPr>
            <a:r>
              <a:rPr lang="en-US" sz="2100" dirty="0">
                <a:solidFill>
                  <a:srgbClr val="FAFAFA"/>
                </a:solidFill>
                <a:latin typeface="PP Neue Montreal" pitchFamily="34" charset="0"/>
                <a:ea typeface="PP Neue Montreal" pitchFamily="34" charset="-122"/>
                <a:cs typeface="PP Neue Montreal" pitchFamily="34" charset="-120"/>
              </a:rPr>
              <a:t>magnifytools.com</a:t>
            </a:r>
            <a:endParaRPr lang="en-US" sz="2100" dirty="0"/>
          </a:p>
        </p:txBody>
      </p:sp>
      <p:sp>
        <p:nvSpPr>
          <p:cNvPr id="35" name="Text 33"/>
          <p:cNvSpPr/>
          <p:nvPr/>
        </p:nvSpPr>
        <p:spPr>
          <a:xfrm>
            <a:off x="9601200" y="9425583"/>
            <a:ext cx="7377684" cy="310455"/>
          </a:xfrm>
          <a:prstGeom prst="rect">
            <a:avLst/>
          </a:prstGeom>
          <a:noFill/>
          <a:ln/>
        </p:spPr>
        <p:txBody>
          <a:bodyPr wrap="square" lIns="25400" tIns="25400" rIns="25400" bIns="25400" rtlCol="0" anchor="t">
            <a:normAutofit/>
          </a:bodyPr>
          <a:lstStyle/>
          <a:p>
            <a:pPr algn="l" indent="0" marL="0">
              <a:lnSpc>
                <a:spcPct val="130000"/>
              </a:lnSpc>
              <a:buNone/>
            </a:pPr>
            <a:r>
              <a:rPr lang="en-US" sz="1650" spc="33" kern="0" dirty="0">
                <a:solidFill>
                  <a:srgbClr val="999999"/>
                </a:solidFill>
                <a:latin typeface="PP Neue Montreal" pitchFamily="34" charset="0"/>
                <a:ea typeface="PP Neue Montreal" pitchFamily="34" charset="-122"/>
                <a:cs typeface="PP Neue Montreal" pitchFamily="34" charset="-120"/>
              </a:rPr>
              <a:t>magnifytools.com</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2026-04-26T03:18:36Z</dcterms:created>
  <dcterms:modified xsi:type="dcterms:W3CDTF">2026-04-26T03:18:36Z</dcterms:modified>
</cp:coreProperties>
</file>